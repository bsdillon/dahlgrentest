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0"/>
  </p:notesMasterIdLst>
  <p:sldIdLst>
    <p:sldId id="279" r:id="rId2"/>
    <p:sldId id="299" r:id="rId3"/>
    <p:sldId id="301" r:id="rId4"/>
    <p:sldId id="285" r:id="rId5"/>
    <p:sldId id="291" r:id="rId6"/>
    <p:sldId id="286" r:id="rId7"/>
    <p:sldId id="287" r:id="rId8"/>
    <p:sldId id="303" r:id="rId9"/>
    <p:sldId id="302" r:id="rId10"/>
    <p:sldId id="280" r:id="rId11"/>
    <p:sldId id="294" r:id="rId12"/>
    <p:sldId id="297" r:id="rId13"/>
    <p:sldId id="283" r:id="rId14"/>
    <p:sldId id="284" r:id="rId15"/>
    <p:sldId id="300" r:id="rId16"/>
    <p:sldId id="304" r:id="rId17"/>
    <p:sldId id="289" r:id="rId18"/>
    <p:sldId id="298" r:id="rId19"/>
    <p:sldId id="311" r:id="rId20"/>
    <p:sldId id="312" r:id="rId21"/>
    <p:sldId id="305" r:id="rId22"/>
    <p:sldId id="313" r:id="rId23"/>
    <p:sldId id="314" r:id="rId24"/>
    <p:sldId id="306" r:id="rId25"/>
    <p:sldId id="310" r:id="rId26"/>
    <p:sldId id="308" r:id="rId27"/>
    <p:sldId id="309" r:id="rId28"/>
    <p:sldId id="307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6699"/>
    <a:srgbClr val="FFDCB9"/>
    <a:srgbClr val="FFCC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014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9AAA93-AF39-4583-A523-F93A84A06470}" type="datetimeFigureOut">
              <a:rPr lang="en-US" smtClean="0"/>
              <a:t>7/19/2018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1D5C5-0DAB-4356-BECD-1F695E30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85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14"/>
          <p:cNvCxnSpPr>
            <a:cxnSpLocks noChangeShapeType="1"/>
          </p:cNvCxnSpPr>
          <p:nvPr userDrawn="1"/>
        </p:nvCxnSpPr>
        <p:spPr bwMode="auto">
          <a:xfrm>
            <a:off x="2835275" y="6172200"/>
            <a:ext cx="6369050" cy="0"/>
          </a:xfrm>
          <a:prstGeom prst="line">
            <a:avLst/>
          </a:prstGeom>
          <a:noFill/>
          <a:ln w="9525" algn="ctr">
            <a:solidFill>
              <a:srgbClr val="E1C205"/>
            </a:solidFill>
            <a:round/>
            <a:headEnd/>
            <a:tailEnd/>
          </a:ln>
        </p:spPr>
      </p:cxnSp>
      <p:sp>
        <p:nvSpPr>
          <p:cNvPr id="10" name="TextBox 9"/>
          <p:cNvSpPr txBox="1"/>
          <p:nvPr userDrawn="1"/>
        </p:nvSpPr>
        <p:spPr>
          <a:xfrm>
            <a:off x="4303713" y="6232525"/>
            <a:ext cx="3954462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900" b="1" i="1" strike="noStrike" dirty="0">
                <a:solidFill>
                  <a:srgbClr val="FF0000"/>
                </a:solidFill>
              </a:rPr>
              <a:t>DISTRIBUTION STATEMENT </a:t>
            </a:r>
            <a:r>
              <a:rPr lang="en-US" sz="900" b="1" i="1" strike="noStrike" dirty="0" smtClean="0">
                <a:solidFill>
                  <a:srgbClr val="FF0000"/>
                </a:solidFill>
              </a:rPr>
              <a:t>A. Approved</a:t>
            </a:r>
            <a:r>
              <a:rPr lang="en-US" sz="900" b="1" i="1" strike="noStrike" baseline="0" dirty="0" smtClean="0">
                <a:solidFill>
                  <a:srgbClr val="FF0000"/>
                </a:solidFill>
              </a:rPr>
              <a:t> for Public Release</a:t>
            </a:r>
            <a:endParaRPr lang="en-US" sz="900" b="1" i="1" strike="noStrike" dirty="0">
              <a:solidFill>
                <a:srgbClr val="FF0000"/>
              </a:solidFill>
            </a:endParaRPr>
          </a:p>
        </p:txBody>
      </p:sp>
      <p:sp>
        <p:nvSpPr>
          <p:cNvPr id="20502" name="Rectangle 22"/>
          <p:cNvSpPr>
            <a:spLocks noGrp="1" noChangeArrowheads="1"/>
          </p:cNvSpPr>
          <p:nvPr>
            <p:ph type="ctrTitle" sz="quarter"/>
          </p:nvPr>
        </p:nvSpPr>
        <p:spPr>
          <a:xfrm>
            <a:off x="3352800" y="838200"/>
            <a:ext cx="5410200" cy="22288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03" name="Rectangle 2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00400" y="4648200"/>
            <a:ext cx="2743200" cy="14478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71941" y="6507970"/>
            <a:ext cx="514662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378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862" y="549275"/>
            <a:ext cx="8259279" cy="639763"/>
          </a:xfrm>
        </p:spPr>
        <p:txBody>
          <a:bodyPr/>
          <a:lstStyle>
            <a:lvl1pPr algn="l">
              <a:defRPr b="1">
                <a:solidFill>
                  <a:srgbClr val="003B58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3038" indent="-173038">
              <a:defRPr/>
            </a:lvl1pPr>
            <a:lvl2pPr marL="395288" indent="-171450">
              <a:defRPr/>
            </a:lvl2pPr>
            <a:lvl3pPr marL="514350" indent="-171450">
              <a:defRPr/>
            </a:lvl3pPr>
            <a:lvl4pPr marL="685800" indent="-171450">
              <a:defRPr/>
            </a:lvl4pPr>
            <a:lvl5pPr marL="857250" indent="-171450">
              <a:defRPr sz="1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Box 14"/>
          <p:cNvSpPr txBox="1">
            <a:spLocks noChangeArrowheads="1"/>
          </p:cNvSpPr>
          <p:nvPr userDrawn="1"/>
        </p:nvSpPr>
        <p:spPr bwMode="auto">
          <a:xfrm>
            <a:off x="1457325" y="6575425"/>
            <a:ext cx="61912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sz="800" b="0" i="1" strike="noStrike" dirty="0" smtClean="0">
                <a:solidFill>
                  <a:schemeClr val="tx1"/>
                </a:solidFill>
              </a:rPr>
              <a:t>DISTRIBUTION STATEMENT A. Approved for Public Release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71941" y="6507970"/>
            <a:ext cx="514662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74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538288" y="39688"/>
            <a:ext cx="5607050" cy="246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000" dirty="0">
                <a:solidFill>
                  <a:srgbClr val="000000"/>
                </a:solidFill>
              </a:rPr>
              <a:t>Pre-Decisional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25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10" indent="0">
              <a:buNone/>
              <a:defRPr sz="1800"/>
            </a:lvl2pPr>
            <a:lvl3pPr marL="913423" indent="0">
              <a:buNone/>
              <a:defRPr sz="1600"/>
            </a:lvl3pPr>
            <a:lvl4pPr marL="1370130" indent="0">
              <a:buNone/>
              <a:defRPr sz="1400"/>
            </a:lvl4pPr>
            <a:lvl5pPr marL="1826844" indent="0">
              <a:buNone/>
              <a:defRPr sz="1400"/>
            </a:lvl5pPr>
            <a:lvl6pPr marL="2283557" indent="0">
              <a:buNone/>
              <a:defRPr sz="1400"/>
            </a:lvl6pPr>
            <a:lvl7pPr marL="2740269" indent="0">
              <a:buNone/>
              <a:defRPr sz="1400"/>
            </a:lvl7pPr>
            <a:lvl8pPr marL="3196979" indent="0">
              <a:buNone/>
              <a:defRPr sz="1400"/>
            </a:lvl8pPr>
            <a:lvl9pPr marL="3653691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5071" y="6575425"/>
            <a:ext cx="567814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62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5071" y="6575425"/>
            <a:ext cx="567814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35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7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10" indent="0">
              <a:buNone/>
              <a:defRPr sz="2000" b="1"/>
            </a:lvl2pPr>
            <a:lvl3pPr marL="913423" indent="0">
              <a:buNone/>
              <a:defRPr sz="1800" b="1"/>
            </a:lvl3pPr>
            <a:lvl4pPr marL="1370130" indent="0">
              <a:buNone/>
              <a:defRPr sz="1600" b="1"/>
            </a:lvl4pPr>
            <a:lvl5pPr marL="1826844" indent="0">
              <a:buNone/>
              <a:defRPr sz="1600" b="1"/>
            </a:lvl5pPr>
            <a:lvl6pPr marL="2283557" indent="0">
              <a:buNone/>
              <a:defRPr sz="1600" b="1"/>
            </a:lvl6pPr>
            <a:lvl7pPr marL="2740269" indent="0">
              <a:buNone/>
              <a:defRPr sz="1600" b="1"/>
            </a:lvl7pPr>
            <a:lvl8pPr marL="3196979" indent="0">
              <a:buNone/>
              <a:defRPr sz="1600" b="1"/>
            </a:lvl8pPr>
            <a:lvl9pPr marL="3653691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9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535117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10" indent="0">
              <a:buNone/>
              <a:defRPr sz="2000" b="1"/>
            </a:lvl2pPr>
            <a:lvl3pPr marL="913423" indent="0">
              <a:buNone/>
              <a:defRPr sz="1800" b="1"/>
            </a:lvl3pPr>
            <a:lvl4pPr marL="1370130" indent="0">
              <a:buNone/>
              <a:defRPr sz="1600" b="1"/>
            </a:lvl4pPr>
            <a:lvl5pPr marL="1826844" indent="0">
              <a:buNone/>
              <a:defRPr sz="1600" b="1"/>
            </a:lvl5pPr>
            <a:lvl6pPr marL="2283557" indent="0">
              <a:buNone/>
              <a:defRPr sz="1600" b="1"/>
            </a:lvl6pPr>
            <a:lvl7pPr marL="2740269" indent="0">
              <a:buNone/>
              <a:defRPr sz="1600" b="1"/>
            </a:lvl7pPr>
            <a:lvl8pPr marL="3196979" indent="0">
              <a:buNone/>
              <a:defRPr sz="1600" b="1"/>
            </a:lvl8pPr>
            <a:lvl9pPr marL="3653691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2174879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5071" y="6575425"/>
            <a:ext cx="567814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871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5071" y="6575425"/>
            <a:ext cx="567814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59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95071" y="6575425"/>
            <a:ext cx="567814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002" y="294593"/>
            <a:ext cx="958414" cy="95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294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2" y="143511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10" indent="0">
              <a:buNone/>
              <a:defRPr sz="1200"/>
            </a:lvl2pPr>
            <a:lvl3pPr marL="913423" indent="0">
              <a:buNone/>
              <a:defRPr sz="1000"/>
            </a:lvl3pPr>
            <a:lvl4pPr marL="1370130" indent="0">
              <a:buNone/>
              <a:defRPr sz="900"/>
            </a:lvl4pPr>
            <a:lvl5pPr marL="1826844" indent="0">
              <a:buNone/>
              <a:defRPr sz="900"/>
            </a:lvl5pPr>
            <a:lvl6pPr marL="2283557" indent="0">
              <a:buNone/>
              <a:defRPr sz="900"/>
            </a:lvl6pPr>
            <a:lvl7pPr marL="2740269" indent="0">
              <a:buNone/>
              <a:defRPr sz="900"/>
            </a:lvl7pPr>
            <a:lvl8pPr marL="3196979" indent="0">
              <a:buNone/>
              <a:defRPr sz="900"/>
            </a:lvl8pPr>
            <a:lvl9pPr marL="3653691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642554" y="6575425"/>
            <a:ext cx="501445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75558262-E940-48FB-994B-4FBFA704399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87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10" indent="0">
              <a:buNone/>
              <a:defRPr sz="2800"/>
            </a:lvl2pPr>
            <a:lvl3pPr marL="913423" indent="0">
              <a:buNone/>
              <a:defRPr sz="2400"/>
            </a:lvl3pPr>
            <a:lvl4pPr marL="1370130" indent="0">
              <a:buNone/>
              <a:defRPr sz="2000"/>
            </a:lvl4pPr>
            <a:lvl5pPr marL="1826844" indent="0">
              <a:buNone/>
              <a:defRPr sz="2000"/>
            </a:lvl5pPr>
            <a:lvl6pPr marL="2283557" indent="0">
              <a:buNone/>
              <a:defRPr sz="2000"/>
            </a:lvl6pPr>
            <a:lvl7pPr marL="2740269" indent="0">
              <a:buNone/>
              <a:defRPr sz="2000"/>
            </a:lvl7pPr>
            <a:lvl8pPr marL="3196979" indent="0">
              <a:buNone/>
              <a:defRPr sz="2000"/>
            </a:lvl8pPr>
            <a:lvl9pPr marL="3653691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10" indent="0">
              <a:buNone/>
              <a:defRPr sz="1200"/>
            </a:lvl2pPr>
            <a:lvl3pPr marL="913423" indent="0">
              <a:buNone/>
              <a:defRPr sz="1000"/>
            </a:lvl3pPr>
            <a:lvl4pPr marL="1370130" indent="0">
              <a:buNone/>
              <a:defRPr sz="900"/>
            </a:lvl4pPr>
            <a:lvl5pPr marL="1826844" indent="0">
              <a:buNone/>
              <a:defRPr sz="900"/>
            </a:lvl5pPr>
            <a:lvl6pPr marL="2283557" indent="0">
              <a:buNone/>
              <a:defRPr sz="900"/>
            </a:lvl6pPr>
            <a:lvl7pPr marL="2740269" indent="0">
              <a:buNone/>
              <a:defRPr sz="900"/>
            </a:lvl7pPr>
            <a:lvl8pPr marL="3196979" indent="0">
              <a:buNone/>
              <a:defRPr sz="900"/>
            </a:lvl8pPr>
            <a:lvl9pPr marL="3653691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17194" y="6575425"/>
            <a:ext cx="626806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C13638C3-1A24-4B3D-AB06-CB8B0332EE6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93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694174" y="6575425"/>
            <a:ext cx="449826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DB5C9494-13DB-4B3E-B4A7-96A0B97D84D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629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22250"/>
            <a:ext cx="2133600" cy="60039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50"/>
            <a:ext cx="6248400" cy="60039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2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23670" y="6575425"/>
            <a:ext cx="420329" cy="28257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EB925132-77AF-4800-AFEF-74FB1F707F9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77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887413"/>
          </a:xfrm>
          <a:prstGeom prst="rect">
            <a:avLst/>
          </a:prstGeom>
          <a:gradFill rotWithShape="1">
            <a:gsLst>
              <a:gs pos="0">
                <a:srgbClr val="7F8697"/>
              </a:gs>
              <a:gs pos="50000">
                <a:srgbClr val="F8F8F8"/>
              </a:gs>
              <a:gs pos="100000">
                <a:srgbClr val="7F8697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308" tIns="45654" rIns="91308" bIns="45654" anchor="ctr"/>
          <a:lstStyle/>
          <a:p>
            <a:pPr>
              <a:defRPr/>
            </a:pPr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0" name="Title 19"/>
          <p:cNvSpPr>
            <a:spLocks noGrp="1" noChangeArrowheads="1"/>
          </p:cNvSpPr>
          <p:nvPr>
            <p:ph type="title"/>
          </p:nvPr>
        </p:nvSpPr>
        <p:spPr bwMode="auto">
          <a:xfrm>
            <a:off x="2000250" y="122238"/>
            <a:ext cx="699135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900" b="1">
                <a:solidFill>
                  <a:srgbClr val="0000FF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5" name="Slide Number Placeholder 16"/>
          <p:cNvSpPr>
            <a:spLocks noGrp="1"/>
          </p:cNvSpPr>
          <p:nvPr userDrawn="1">
            <p:ph type="sldNum" sz="quarter" idx="10"/>
          </p:nvPr>
        </p:nvSpPr>
        <p:spPr>
          <a:xfrm>
            <a:off x="8626475" y="6623050"/>
            <a:ext cx="436563" cy="23495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10D7F216-5AC6-43D0-8457-09553B1408E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70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678613"/>
            <a:ext cx="1066800" cy="185737"/>
          </a:xfrm>
          <a:prstGeom prst="rect">
            <a:avLst/>
          </a:prstGeom>
        </p:spPr>
        <p:txBody>
          <a:bodyPr/>
          <a:lstStyle/>
          <a:p>
            <a:fld id="{25C0F62E-57B3-4B00-9717-4BC80CB835EA}" type="datetimeFigureOut">
              <a:rPr lang="en-US" smtClean="0"/>
              <a:t>7/19/2018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0" y="6678613"/>
            <a:ext cx="1905000" cy="2127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2000" y="6678613"/>
            <a:ext cx="762000" cy="1857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A1EABA-C535-42CD-A752-0813275A70B3}" type="slidenum">
              <a:rPr lang="en-US" smtClean="0">
                <a:solidFill>
                  <a:srgbClr val="000000"/>
                </a:solidFill>
                <a:cs typeface="Arial"/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6" name="Text Box 2052"/>
          <p:cNvSpPr txBox="1">
            <a:spLocks noChangeArrowheads="1"/>
          </p:cNvSpPr>
          <p:nvPr userDrawn="1"/>
        </p:nvSpPr>
        <p:spPr bwMode="auto">
          <a:xfrm>
            <a:off x="3284538" y="6564313"/>
            <a:ext cx="2554287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dirty="0">
                <a:solidFill>
                  <a:srgbClr val="00AE00"/>
                </a:solidFill>
              </a:rPr>
              <a:t>UNCLASSIFIED / </a:t>
            </a:r>
            <a:r>
              <a:rPr lang="en-US" sz="1600" b="1" dirty="0" err="1">
                <a:solidFill>
                  <a:srgbClr val="00AE00"/>
                </a:solidFill>
              </a:rPr>
              <a:t>FOUO</a:t>
            </a:r>
            <a:endParaRPr lang="en-US" sz="1600" b="1" dirty="0">
              <a:solidFill>
                <a:srgbClr val="00AE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223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Grp="1" noChangeArrowheads="1"/>
          </p:cNvSpPr>
          <p:nvPr>
            <p:ph type="title"/>
          </p:nvPr>
        </p:nvSpPr>
        <p:spPr bwMode="auto">
          <a:xfrm>
            <a:off x="423863" y="428511"/>
            <a:ext cx="5867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0" tIns="45670" rIns="91340" bIns="4567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1394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0" tIns="45670" rIns="91340" bIns="456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pic>
        <p:nvPicPr>
          <p:cNvPr id="1028" name="Picture 8" descr="header.jpg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101486"/>
            <a:ext cx="9144000" cy="127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002" y="294593"/>
            <a:ext cx="958414" cy="95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33800" y="73931"/>
            <a:ext cx="1409700" cy="246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0" hangingPunct="0">
              <a:defRPr/>
            </a:pPr>
            <a:r>
              <a:rPr lang="en-US" sz="1000" b="1" dirty="0">
                <a:solidFill>
                  <a:srgbClr val="00B050"/>
                </a:solidFill>
                <a:ea typeface="MS PGothic" pitchFamily="34" charset="-128"/>
              </a:rPr>
              <a:t>UNCLASSIFIED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081790" y="209274"/>
            <a:ext cx="2000529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0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  <a:cs typeface="Arial" charset="0"/>
        </a:defRPr>
      </a:lvl5pPr>
      <a:lvl6pPr marL="45671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3423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013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6844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39725" indent="-339725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2pPr>
      <a:lvl3pPr marL="1139825" indent="-225425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  <a:cs typeface="+mn-cs"/>
        </a:defRPr>
      </a:lvl3pPr>
      <a:lvl4pPr marL="1597025" indent="-22542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400">
          <a:solidFill>
            <a:schemeClr val="tx1"/>
          </a:solidFill>
          <a:latin typeface="+mn-lt"/>
          <a:cs typeface="+mn-cs"/>
        </a:defRPr>
      </a:lvl4pPr>
      <a:lvl5pPr marL="2054225" indent="-225425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1913" indent="-228357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68626" indent="-228357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5334" indent="-228357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2046" indent="-228357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10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423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130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844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557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269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6979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3691" algn="l" defTabSz="913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295400"/>
            <a:ext cx="6142433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>
          <a:xfrm>
            <a:off x="3124200" y="1295400"/>
            <a:ext cx="5410200" cy="2228850"/>
          </a:xfrm>
        </p:spPr>
        <p:txBody>
          <a:bodyPr/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Managing Software </a:t>
            </a:r>
            <a:r>
              <a:rPr lang="en-US" sz="2800" b="1" dirty="0" smtClean="0">
                <a:solidFill>
                  <a:schemeClr val="bg1"/>
                </a:solidFill>
              </a:rPr>
              <a:t>Quality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>
          <a:xfrm>
            <a:off x="3200400" y="4648200"/>
            <a:ext cx="5410200" cy="1447800"/>
          </a:xfrm>
        </p:spPr>
        <p:txBody>
          <a:bodyPr/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Naval Surface Warfare Center Dahlgren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JTEX-03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Orlando, FL August 2018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295400"/>
            <a:ext cx="24384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6773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Concerns over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Risk Management Framework</a:t>
            </a:r>
          </a:p>
          <a:p>
            <a:r>
              <a:rPr lang="en-US" dirty="0" smtClean="0"/>
              <a:t>Software Degeneration</a:t>
            </a:r>
          </a:p>
          <a:p>
            <a:r>
              <a:rPr lang="en-US" dirty="0" smtClean="0"/>
              <a:t>Business Model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Assessment Methods</a:t>
            </a:r>
            <a:endParaRPr lang="en-US" dirty="0" smtClean="0"/>
          </a:p>
          <a:p>
            <a:r>
              <a:rPr lang="en-US" dirty="0" smtClean="0"/>
              <a:t>Numerical Metrics</a:t>
            </a:r>
          </a:p>
          <a:p>
            <a:r>
              <a:rPr lang="en-US" dirty="0" smtClean="0"/>
              <a:t>Static </a:t>
            </a:r>
            <a:r>
              <a:rPr lang="en-US" dirty="0" smtClean="0"/>
              <a:t>Analysis </a:t>
            </a:r>
            <a:r>
              <a:rPr lang="en-US" dirty="0" smtClean="0"/>
              <a:t>Tools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Latest Improvements</a:t>
            </a:r>
            <a:endParaRPr lang="en-US" dirty="0" smtClean="0"/>
          </a:p>
          <a:p>
            <a:r>
              <a:rPr lang="en-US" dirty="0" smtClean="0"/>
              <a:t>Graph-Based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Future Efforts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Auto-Generated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Software Project Management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868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Risk Management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Focuses on information system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Loop-based process to identify system vulnerabilities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Identify risks, create mitigation plans, perpetually reassess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RMF is </a:t>
            </a:r>
            <a:r>
              <a:rPr lang="en-US" b="1" u="sng" dirty="0" smtClean="0"/>
              <a:t>NOT</a:t>
            </a:r>
            <a:r>
              <a:rPr lang="en-US" dirty="0" smtClean="0"/>
              <a:t> specifically applied to software development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Common wisdom suggest several analogous processes with respect to software: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Code scanning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Perpetual evaluation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Software tends to drive schedule and cost risk for major programs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2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dirty="0" smtClean="0"/>
              <a:t>Degeneration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2357053" cy="4525963"/>
          </a:xfrm>
        </p:spPr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Lehman – Evolution</a:t>
            </a:r>
          </a:p>
          <a:p>
            <a:pPr marL="0" indent="0" algn="ctr">
              <a:buNone/>
            </a:pPr>
            <a:r>
              <a:rPr lang="en-US" dirty="0" smtClean="0"/>
              <a:t>Change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200" dirty="0" smtClean="0"/>
          </a:p>
          <a:p>
            <a:pPr marL="0" indent="0" algn="ctr">
              <a:buNone/>
            </a:pPr>
            <a:r>
              <a:rPr lang="en-US" dirty="0" err="1" smtClean="0"/>
              <a:t>Parnas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Aging</a:t>
            </a:r>
          </a:p>
          <a:p>
            <a:pPr marL="0" indent="0" algn="ctr">
              <a:buNone/>
            </a:pPr>
            <a:r>
              <a:rPr lang="en-US" dirty="0" smtClean="0"/>
              <a:t>Repair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err="1" smtClean="0"/>
              <a:t>Izurieta</a:t>
            </a:r>
            <a:r>
              <a:rPr lang="en-US" dirty="0"/>
              <a:t> – </a:t>
            </a:r>
            <a:r>
              <a:rPr lang="en-US" dirty="0" smtClean="0"/>
              <a:t>Grime</a:t>
            </a:r>
          </a:p>
          <a:p>
            <a:pPr marL="0" indent="0" algn="ctr">
              <a:buNone/>
            </a:pPr>
            <a:r>
              <a:rPr lang="en-US" dirty="0" smtClean="0"/>
              <a:t>Monitor</a:t>
            </a: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Dillon</a:t>
            </a:r>
            <a:r>
              <a:rPr lang="en-US" dirty="0"/>
              <a:t> – </a:t>
            </a:r>
            <a:r>
              <a:rPr lang="en-US" dirty="0" smtClean="0"/>
              <a:t>Cancer</a:t>
            </a:r>
          </a:p>
          <a:p>
            <a:pPr marL="0" indent="0" algn="ctr">
              <a:buNone/>
            </a:pPr>
            <a:r>
              <a:rPr lang="en-US" dirty="0" smtClean="0"/>
              <a:t>Detect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791" y="1676400"/>
            <a:ext cx="913809" cy="990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575" y="1781523"/>
            <a:ext cx="1123950" cy="714375"/>
          </a:xfrm>
          <a:prstGeom prst="rect">
            <a:avLst/>
          </a:prstGeom>
        </p:spPr>
      </p:pic>
      <p:pic>
        <p:nvPicPr>
          <p:cNvPr id="1026" name="Picture 2" descr="Image result for evolu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10423"/>
            <a:ext cx="1403350" cy="105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2925474"/>
            <a:ext cx="1285875" cy="9230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435" y="2925474"/>
            <a:ext cx="1114425" cy="100136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504" y="2983866"/>
            <a:ext cx="830381" cy="942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8961" y="4191000"/>
            <a:ext cx="1285875" cy="10191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5861" y="4227641"/>
            <a:ext cx="1657350" cy="9647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029" y="4235903"/>
            <a:ext cx="1042297" cy="9482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8252" y="5314649"/>
            <a:ext cx="1907292" cy="9928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9474" y="5638800"/>
            <a:ext cx="1569276" cy="94773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1072" y="5493166"/>
            <a:ext cx="1775746" cy="99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8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41910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Quality Software = Less Expensive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u="sng" dirty="0" smtClean="0"/>
              <a:t>Visible factors</a:t>
            </a:r>
          </a:p>
          <a:p>
            <a:pPr marL="0" indent="0">
              <a:buNone/>
            </a:pPr>
            <a:r>
              <a:rPr lang="en-US" sz="1600" dirty="0" smtClean="0"/>
              <a:t>Feature implementation rate</a:t>
            </a:r>
          </a:p>
          <a:p>
            <a:pPr marL="0" indent="0">
              <a:buNone/>
            </a:pPr>
            <a:r>
              <a:rPr lang="en-US" sz="1600" dirty="0" smtClean="0"/>
              <a:t>Defects open/reported</a:t>
            </a:r>
          </a:p>
          <a:p>
            <a:pPr marL="0" indent="0">
              <a:buNone/>
            </a:pPr>
            <a:r>
              <a:rPr lang="en-US" sz="1600" dirty="0" smtClean="0"/>
              <a:t>Defect repair rate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u="sng" dirty="0" smtClean="0"/>
              <a:t>Invisible factors</a:t>
            </a:r>
          </a:p>
          <a:p>
            <a:pPr marL="0" indent="0">
              <a:buNone/>
            </a:pPr>
            <a:r>
              <a:rPr lang="en-US" sz="1600" dirty="0" smtClean="0"/>
              <a:t>Maintenance costs</a:t>
            </a:r>
          </a:p>
          <a:p>
            <a:pPr marL="0" indent="0">
              <a:buNone/>
            </a:pPr>
            <a:r>
              <a:rPr lang="en-US" sz="1600" dirty="0" smtClean="0"/>
              <a:t>Structural defects</a:t>
            </a:r>
          </a:p>
          <a:p>
            <a:pPr marL="0" indent="0">
              <a:buNone/>
            </a:pPr>
            <a:r>
              <a:rPr lang="en-US" sz="1600" dirty="0" smtClean="0"/>
              <a:t>Low quality</a:t>
            </a:r>
          </a:p>
          <a:p>
            <a:pPr marL="0" indent="0">
              <a:buNone/>
            </a:pPr>
            <a:r>
              <a:rPr lang="en-US" sz="1600" dirty="0" smtClean="0"/>
              <a:t>Poor design</a:t>
            </a:r>
          </a:p>
          <a:p>
            <a:pPr marL="0" indent="0">
              <a:buNone/>
            </a:pPr>
            <a:r>
              <a:rPr lang="en-US" sz="1600" dirty="0" smtClean="0"/>
              <a:t>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471941" y="6503916"/>
            <a:ext cx="514662" cy="233533"/>
          </a:xfrm>
        </p:spPr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714" y="3728985"/>
            <a:ext cx="3192142" cy="1909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061787" y="3413237"/>
            <a:ext cx="3604260" cy="30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Notional Software Budget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365" y="1334713"/>
            <a:ext cx="3865104" cy="2075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39831" y="4556711"/>
            <a:ext cx="1089745" cy="254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Pizka 2015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7825408" y="2219662"/>
            <a:ext cx="1318592" cy="268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Izurieta</a:t>
            </a:r>
            <a:r>
              <a:rPr lang="en-US" sz="1400" dirty="0" smtClean="0"/>
              <a:t> 2016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228600" y="5797497"/>
            <a:ext cx="8763000" cy="75570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6200" y="5645097"/>
            <a:ext cx="8763000" cy="755703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Considerable research supports RMF for software</a:t>
            </a:r>
            <a:endParaRPr lang="en-US" sz="2400" dirty="0" smtClean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3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 – Unintended Consequences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50292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Stability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“[I</a:t>
            </a:r>
            <a:r>
              <a:rPr lang="en-US" dirty="0" smtClean="0"/>
              <a:t>]f</a:t>
            </a:r>
            <a:r>
              <a:rPr lang="en-US" dirty="0" smtClean="0"/>
              <a:t> </a:t>
            </a:r>
            <a:r>
              <a:rPr lang="en-US" dirty="0" smtClean="0"/>
              <a:t>the code retained for any build falls below 75</a:t>
            </a:r>
            <a:r>
              <a:rPr lang="en-US" dirty="0" smtClean="0"/>
              <a:t>%...</a:t>
            </a:r>
            <a:r>
              <a:rPr lang="en-US" b="1" dirty="0" smtClean="0"/>
              <a:t> </a:t>
            </a:r>
            <a:r>
              <a:rPr lang="en-US" dirty="0" smtClean="0"/>
              <a:t>then </a:t>
            </a:r>
            <a:r>
              <a:rPr lang="en-US" dirty="0" smtClean="0"/>
              <a:t>the utilization of that build should be considered to be inadequate</a:t>
            </a:r>
            <a:r>
              <a:rPr lang="en-US" dirty="0" smtClean="0"/>
              <a:t>.”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All maintenance activities reduce stability.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Stability cannot be “achieved” only inherited</a:t>
            </a: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Maintaining stability is often in conflict with healthy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248400" y="2743200"/>
            <a:ext cx="2133600" cy="1371600"/>
            <a:chOff x="990600" y="4114800"/>
            <a:chExt cx="2133600" cy="1371600"/>
          </a:xfrm>
        </p:grpSpPr>
        <p:sp>
          <p:nvSpPr>
            <p:cNvPr id="5" name="Rectangle 4"/>
            <p:cNvSpPr/>
            <p:nvPr/>
          </p:nvSpPr>
          <p:spPr bwMode="auto">
            <a:xfrm>
              <a:off x="990600" y="4724400"/>
              <a:ext cx="304800" cy="7620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1447800" y="4800600"/>
              <a:ext cx="304800" cy="6858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1905000" y="4953000"/>
              <a:ext cx="304800" cy="5334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362200" y="5143500"/>
              <a:ext cx="304800" cy="3429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1447800" y="4267200"/>
              <a:ext cx="304800" cy="5334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1905000" y="4495800"/>
              <a:ext cx="304800" cy="457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362200" y="4724400"/>
              <a:ext cx="304800" cy="4572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2819400" y="4914900"/>
              <a:ext cx="304800" cy="38100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2819400" y="5295900"/>
              <a:ext cx="304800" cy="19050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1905000" y="4191000"/>
              <a:ext cx="304800" cy="3048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2362200" y="4419600"/>
              <a:ext cx="304800" cy="3048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819400" y="4724400"/>
              <a:ext cx="304800" cy="2286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2362200" y="4114800"/>
              <a:ext cx="304800" cy="30480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819400" y="4419600"/>
              <a:ext cx="304800" cy="30480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819400" y="4114800"/>
              <a:ext cx="304800" cy="304800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cxnSp>
        <p:nvCxnSpPr>
          <p:cNvPr id="22" name="Straight Connector 21"/>
          <p:cNvCxnSpPr/>
          <p:nvPr/>
        </p:nvCxnSpPr>
        <p:spPr bwMode="auto">
          <a:xfrm>
            <a:off x="6172200" y="4191000"/>
            <a:ext cx="22098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/>
          <p:nvPr/>
        </p:nvCxnSpPr>
        <p:spPr bwMode="auto">
          <a:xfrm flipV="1">
            <a:off x="6172200" y="2514600"/>
            <a:ext cx="0" cy="16764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 rot="16200000">
            <a:off x="5555218" y="320623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SLOC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896100" y="41910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Builds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1996559" y="2710934"/>
            <a:ext cx="3566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PEOIWSINST 5234.1 (Jan 2012)</a:t>
            </a:r>
          </a:p>
        </p:txBody>
      </p:sp>
    </p:spTree>
    <p:extLst>
      <p:ext uri="{BB962C8B-B14F-4D97-AF65-F5344CB8AC3E}">
        <p14:creationId xmlns:p14="http://schemas.microsoft.com/office/powerpoint/2010/main" val="183712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 – Value comparison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50292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Defect Density </a:t>
            </a:r>
            <a:endParaRPr lang="en-US" dirty="0"/>
          </a:p>
          <a:p>
            <a:pPr algn="just"/>
            <a:r>
              <a:rPr lang="en-US" dirty="0"/>
              <a:t>A history of the challenges experienced</a:t>
            </a:r>
          </a:p>
          <a:p>
            <a:pPr algn="just"/>
            <a:r>
              <a:rPr lang="en-US" dirty="0"/>
              <a:t>Identify candidates for potential redesign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Not comparable between programs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SLOC fluctuations affect density</a:t>
            </a:r>
            <a:endParaRPr lang="en-US" dirty="0" smtClean="0"/>
          </a:p>
          <a:p>
            <a:pPr marL="0" indent="0">
              <a:buNone/>
            </a:pPr>
            <a:endParaRPr lang="en-US" sz="1100" dirty="0" smtClean="0"/>
          </a:p>
          <a:p>
            <a:pPr marL="0" indent="0">
              <a:buNone/>
            </a:pPr>
            <a:r>
              <a:rPr lang="en-US" dirty="0" smtClean="0"/>
              <a:t>Cumulative value is not </a:t>
            </a:r>
            <a:r>
              <a:rPr lang="en-US" dirty="0" smtClean="0"/>
              <a:t>monotonic</a:t>
            </a:r>
            <a:endParaRPr lang="en-US" dirty="0" smtClean="0"/>
          </a:p>
          <a:p>
            <a:pPr marL="0" indent="0">
              <a:buNone/>
            </a:pPr>
            <a:endParaRPr lang="en-US" sz="1100" dirty="0" smtClean="0"/>
          </a:p>
          <a:p>
            <a:pPr marL="0" indent="0">
              <a:buNone/>
            </a:pPr>
            <a:r>
              <a:rPr lang="en-US" dirty="0" smtClean="0"/>
              <a:t>Ignores </a:t>
            </a:r>
            <a:r>
              <a:rPr lang="en-US" dirty="0" smtClean="0"/>
              <a:t>fluctuations within </a:t>
            </a:r>
            <a:r>
              <a:rPr lang="en-US" dirty="0" smtClean="0"/>
              <a:t>sub-units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Density values cannot be compared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 bwMode="auto">
          <a:xfrm>
            <a:off x="6178276" y="3886200"/>
            <a:ext cx="220980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flipV="1">
            <a:off x="6178276" y="2209800"/>
            <a:ext cx="0" cy="16764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/>
          <p:cNvSpPr txBox="1"/>
          <p:nvPr/>
        </p:nvSpPr>
        <p:spPr>
          <a:xfrm rot="16200000">
            <a:off x="5332694" y="2859733"/>
            <a:ext cx="129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Defects\SLOC</a:t>
            </a:r>
            <a:endParaRPr 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6902176" y="388620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Builds</a:t>
            </a:r>
            <a:endParaRPr lang="en-US" dirty="0"/>
          </a:p>
        </p:txBody>
      </p:sp>
      <p:sp>
        <p:nvSpPr>
          <p:cNvPr id="36" name="Freeform 35"/>
          <p:cNvSpPr/>
          <p:nvPr/>
        </p:nvSpPr>
        <p:spPr bwMode="auto">
          <a:xfrm>
            <a:off x="6367229" y="3369707"/>
            <a:ext cx="1866900" cy="457200"/>
          </a:xfrm>
          <a:custGeom>
            <a:avLst/>
            <a:gdLst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152400 w 619218"/>
              <a:gd name="connsiteY3" fmla="*/ 477588 h 572838"/>
              <a:gd name="connsiteX4" fmla="*/ 190500 w 619218"/>
              <a:gd name="connsiteY4" fmla="*/ 458538 h 572838"/>
              <a:gd name="connsiteX5" fmla="*/ 209550 w 619218"/>
              <a:gd name="connsiteY5" fmla="*/ 410913 h 572838"/>
              <a:gd name="connsiteX6" fmla="*/ 219075 w 619218"/>
              <a:gd name="connsiteY6" fmla="*/ 372813 h 572838"/>
              <a:gd name="connsiteX7" fmla="*/ 238125 w 619218"/>
              <a:gd name="connsiteY7" fmla="*/ 344238 h 572838"/>
              <a:gd name="connsiteX8" fmla="*/ 276225 w 619218"/>
              <a:gd name="connsiteY8" fmla="*/ 277563 h 572838"/>
              <a:gd name="connsiteX9" fmla="*/ 314325 w 619218"/>
              <a:gd name="connsiteY9" fmla="*/ 248988 h 572838"/>
              <a:gd name="connsiteX10" fmla="*/ 352425 w 619218"/>
              <a:gd name="connsiteY10" fmla="*/ 210888 h 572838"/>
              <a:gd name="connsiteX11" fmla="*/ 428625 w 619218"/>
              <a:gd name="connsiteY11" fmla="*/ 172788 h 572838"/>
              <a:gd name="connsiteX12" fmla="*/ 533400 w 619218"/>
              <a:gd name="connsiteY12" fmla="*/ 87063 h 572838"/>
              <a:gd name="connsiteX13" fmla="*/ 571500 w 619218"/>
              <a:gd name="connsiteY13" fmla="*/ 58488 h 572838"/>
              <a:gd name="connsiteX14" fmla="*/ 619125 w 619218"/>
              <a:gd name="connsiteY14" fmla="*/ 1338 h 572838"/>
              <a:gd name="connsiteX15" fmla="*/ 609600 w 619218"/>
              <a:gd name="connsiteY15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152400 w 619218"/>
              <a:gd name="connsiteY3" fmla="*/ 477588 h 572838"/>
              <a:gd name="connsiteX4" fmla="*/ 209550 w 619218"/>
              <a:gd name="connsiteY4" fmla="*/ 410913 h 572838"/>
              <a:gd name="connsiteX5" fmla="*/ 219075 w 619218"/>
              <a:gd name="connsiteY5" fmla="*/ 372813 h 572838"/>
              <a:gd name="connsiteX6" fmla="*/ 238125 w 619218"/>
              <a:gd name="connsiteY6" fmla="*/ 344238 h 572838"/>
              <a:gd name="connsiteX7" fmla="*/ 276225 w 619218"/>
              <a:gd name="connsiteY7" fmla="*/ 277563 h 572838"/>
              <a:gd name="connsiteX8" fmla="*/ 314325 w 619218"/>
              <a:gd name="connsiteY8" fmla="*/ 248988 h 572838"/>
              <a:gd name="connsiteX9" fmla="*/ 352425 w 619218"/>
              <a:gd name="connsiteY9" fmla="*/ 210888 h 572838"/>
              <a:gd name="connsiteX10" fmla="*/ 428625 w 619218"/>
              <a:gd name="connsiteY10" fmla="*/ 172788 h 572838"/>
              <a:gd name="connsiteX11" fmla="*/ 533400 w 619218"/>
              <a:gd name="connsiteY11" fmla="*/ 87063 h 572838"/>
              <a:gd name="connsiteX12" fmla="*/ 571500 w 619218"/>
              <a:gd name="connsiteY12" fmla="*/ 58488 h 572838"/>
              <a:gd name="connsiteX13" fmla="*/ 619125 w 619218"/>
              <a:gd name="connsiteY13" fmla="*/ 1338 h 572838"/>
              <a:gd name="connsiteX14" fmla="*/ 609600 w 619218"/>
              <a:gd name="connsiteY14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09550 w 619218"/>
              <a:gd name="connsiteY3" fmla="*/ 410913 h 572838"/>
              <a:gd name="connsiteX4" fmla="*/ 219075 w 619218"/>
              <a:gd name="connsiteY4" fmla="*/ 372813 h 572838"/>
              <a:gd name="connsiteX5" fmla="*/ 238125 w 619218"/>
              <a:gd name="connsiteY5" fmla="*/ 344238 h 572838"/>
              <a:gd name="connsiteX6" fmla="*/ 276225 w 619218"/>
              <a:gd name="connsiteY6" fmla="*/ 277563 h 572838"/>
              <a:gd name="connsiteX7" fmla="*/ 314325 w 619218"/>
              <a:gd name="connsiteY7" fmla="*/ 248988 h 572838"/>
              <a:gd name="connsiteX8" fmla="*/ 352425 w 619218"/>
              <a:gd name="connsiteY8" fmla="*/ 210888 h 572838"/>
              <a:gd name="connsiteX9" fmla="*/ 428625 w 619218"/>
              <a:gd name="connsiteY9" fmla="*/ 172788 h 572838"/>
              <a:gd name="connsiteX10" fmla="*/ 533400 w 619218"/>
              <a:gd name="connsiteY10" fmla="*/ 87063 h 572838"/>
              <a:gd name="connsiteX11" fmla="*/ 571500 w 619218"/>
              <a:gd name="connsiteY11" fmla="*/ 58488 h 572838"/>
              <a:gd name="connsiteX12" fmla="*/ 619125 w 619218"/>
              <a:gd name="connsiteY12" fmla="*/ 1338 h 572838"/>
              <a:gd name="connsiteX13" fmla="*/ 609600 w 619218"/>
              <a:gd name="connsiteY13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19075 w 619218"/>
              <a:gd name="connsiteY3" fmla="*/ 372813 h 572838"/>
              <a:gd name="connsiteX4" fmla="*/ 238125 w 619218"/>
              <a:gd name="connsiteY4" fmla="*/ 344238 h 572838"/>
              <a:gd name="connsiteX5" fmla="*/ 276225 w 619218"/>
              <a:gd name="connsiteY5" fmla="*/ 277563 h 572838"/>
              <a:gd name="connsiteX6" fmla="*/ 314325 w 619218"/>
              <a:gd name="connsiteY6" fmla="*/ 248988 h 572838"/>
              <a:gd name="connsiteX7" fmla="*/ 352425 w 619218"/>
              <a:gd name="connsiteY7" fmla="*/ 210888 h 572838"/>
              <a:gd name="connsiteX8" fmla="*/ 428625 w 619218"/>
              <a:gd name="connsiteY8" fmla="*/ 172788 h 572838"/>
              <a:gd name="connsiteX9" fmla="*/ 533400 w 619218"/>
              <a:gd name="connsiteY9" fmla="*/ 87063 h 572838"/>
              <a:gd name="connsiteX10" fmla="*/ 571500 w 619218"/>
              <a:gd name="connsiteY10" fmla="*/ 58488 h 572838"/>
              <a:gd name="connsiteX11" fmla="*/ 619125 w 619218"/>
              <a:gd name="connsiteY11" fmla="*/ 1338 h 572838"/>
              <a:gd name="connsiteX12" fmla="*/ 609600 w 619218"/>
              <a:gd name="connsiteY12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19075 w 619218"/>
              <a:gd name="connsiteY3" fmla="*/ 372813 h 572838"/>
              <a:gd name="connsiteX4" fmla="*/ 276225 w 619218"/>
              <a:gd name="connsiteY4" fmla="*/ 277563 h 572838"/>
              <a:gd name="connsiteX5" fmla="*/ 314325 w 619218"/>
              <a:gd name="connsiteY5" fmla="*/ 248988 h 572838"/>
              <a:gd name="connsiteX6" fmla="*/ 352425 w 619218"/>
              <a:gd name="connsiteY6" fmla="*/ 210888 h 572838"/>
              <a:gd name="connsiteX7" fmla="*/ 428625 w 619218"/>
              <a:gd name="connsiteY7" fmla="*/ 172788 h 572838"/>
              <a:gd name="connsiteX8" fmla="*/ 533400 w 619218"/>
              <a:gd name="connsiteY8" fmla="*/ 87063 h 572838"/>
              <a:gd name="connsiteX9" fmla="*/ 571500 w 619218"/>
              <a:gd name="connsiteY9" fmla="*/ 58488 h 572838"/>
              <a:gd name="connsiteX10" fmla="*/ 619125 w 619218"/>
              <a:gd name="connsiteY10" fmla="*/ 1338 h 572838"/>
              <a:gd name="connsiteX11" fmla="*/ 609600 w 619218"/>
              <a:gd name="connsiteY11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76225 w 619218"/>
              <a:gd name="connsiteY3" fmla="*/ 277563 h 572838"/>
              <a:gd name="connsiteX4" fmla="*/ 314325 w 619218"/>
              <a:gd name="connsiteY4" fmla="*/ 248988 h 572838"/>
              <a:gd name="connsiteX5" fmla="*/ 352425 w 619218"/>
              <a:gd name="connsiteY5" fmla="*/ 210888 h 572838"/>
              <a:gd name="connsiteX6" fmla="*/ 428625 w 619218"/>
              <a:gd name="connsiteY6" fmla="*/ 172788 h 572838"/>
              <a:gd name="connsiteX7" fmla="*/ 533400 w 619218"/>
              <a:gd name="connsiteY7" fmla="*/ 87063 h 572838"/>
              <a:gd name="connsiteX8" fmla="*/ 571500 w 619218"/>
              <a:gd name="connsiteY8" fmla="*/ 58488 h 572838"/>
              <a:gd name="connsiteX9" fmla="*/ 619125 w 619218"/>
              <a:gd name="connsiteY9" fmla="*/ 1338 h 572838"/>
              <a:gd name="connsiteX10" fmla="*/ 609600 w 619218"/>
              <a:gd name="connsiteY10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352425 w 619218"/>
              <a:gd name="connsiteY4" fmla="*/ 210888 h 572838"/>
              <a:gd name="connsiteX5" fmla="*/ 428625 w 619218"/>
              <a:gd name="connsiteY5" fmla="*/ 172788 h 572838"/>
              <a:gd name="connsiteX6" fmla="*/ 533400 w 619218"/>
              <a:gd name="connsiteY6" fmla="*/ 87063 h 572838"/>
              <a:gd name="connsiteX7" fmla="*/ 571500 w 619218"/>
              <a:gd name="connsiteY7" fmla="*/ 58488 h 572838"/>
              <a:gd name="connsiteX8" fmla="*/ 619125 w 619218"/>
              <a:gd name="connsiteY8" fmla="*/ 1338 h 572838"/>
              <a:gd name="connsiteX9" fmla="*/ 609600 w 619218"/>
              <a:gd name="connsiteY9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428625 w 619218"/>
              <a:gd name="connsiteY4" fmla="*/ 172788 h 572838"/>
              <a:gd name="connsiteX5" fmla="*/ 533400 w 619218"/>
              <a:gd name="connsiteY5" fmla="*/ 87063 h 572838"/>
              <a:gd name="connsiteX6" fmla="*/ 571500 w 619218"/>
              <a:gd name="connsiteY6" fmla="*/ 58488 h 572838"/>
              <a:gd name="connsiteX7" fmla="*/ 619125 w 619218"/>
              <a:gd name="connsiteY7" fmla="*/ 1338 h 572838"/>
              <a:gd name="connsiteX8" fmla="*/ 609600 w 619218"/>
              <a:gd name="connsiteY8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533400 w 619218"/>
              <a:gd name="connsiteY4" fmla="*/ 87063 h 572838"/>
              <a:gd name="connsiteX5" fmla="*/ 571500 w 619218"/>
              <a:gd name="connsiteY5" fmla="*/ 58488 h 572838"/>
              <a:gd name="connsiteX6" fmla="*/ 619125 w 619218"/>
              <a:gd name="connsiteY6" fmla="*/ 1338 h 572838"/>
              <a:gd name="connsiteX7" fmla="*/ 609600 w 619218"/>
              <a:gd name="connsiteY7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571500 w 619218"/>
              <a:gd name="connsiteY4" fmla="*/ 58488 h 572838"/>
              <a:gd name="connsiteX5" fmla="*/ 619125 w 619218"/>
              <a:gd name="connsiteY5" fmla="*/ 1338 h 572838"/>
              <a:gd name="connsiteX6" fmla="*/ 609600 w 619218"/>
              <a:gd name="connsiteY6" fmla="*/ 1338 h 572838"/>
              <a:gd name="connsiteX0" fmla="*/ 0 w 639373"/>
              <a:gd name="connsiteY0" fmla="*/ 589844 h 589844"/>
              <a:gd name="connsiteX1" fmla="*/ 57150 w 639373"/>
              <a:gd name="connsiteY1" fmla="*/ 570794 h 589844"/>
              <a:gd name="connsiteX2" fmla="*/ 123825 w 639373"/>
              <a:gd name="connsiteY2" fmla="*/ 523169 h 589844"/>
              <a:gd name="connsiteX3" fmla="*/ 314325 w 639373"/>
              <a:gd name="connsiteY3" fmla="*/ 265994 h 589844"/>
              <a:gd name="connsiteX4" fmla="*/ 619125 w 639373"/>
              <a:gd name="connsiteY4" fmla="*/ 18344 h 589844"/>
              <a:gd name="connsiteX5" fmla="*/ 609600 w 639373"/>
              <a:gd name="connsiteY5" fmla="*/ 18344 h 589844"/>
              <a:gd name="connsiteX0" fmla="*/ 0 w 639373"/>
              <a:gd name="connsiteY0" fmla="*/ 589844 h 598996"/>
              <a:gd name="connsiteX1" fmla="*/ 57150 w 639373"/>
              <a:gd name="connsiteY1" fmla="*/ 570794 h 598996"/>
              <a:gd name="connsiteX2" fmla="*/ 314325 w 639373"/>
              <a:gd name="connsiteY2" fmla="*/ 265994 h 598996"/>
              <a:gd name="connsiteX3" fmla="*/ 619125 w 639373"/>
              <a:gd name="connsiteY3" fmla="*/ 18344 h 598996"/>
              <a:gd name="connsiteX4" fmla="*/ 609600 w 639373"/>
              <a:gd name="connsiteY4" fmla="*/ 18344 h 598996"/>
              <a:gd name="connsiteX0" fmla="*/ 0 w 639373"/>
              <a:gd name="connsiteY0" fmla="*/ 589844 h 589844"/>
              <a:gd name="connsiteX1" fmla="*/ 314325 w 639373"/>
              <a:gd name="connsiteY1" fmla="*/ 265994 h 589844"/>
              <a:gd name="connsiteX2" fmla="*/ 619125 w 639373"/>
              <a:gd name="connsiteY2" fmla="*/ 18344 h 589844"/>
              <a:gd name="connsiteX3" fmla="*/ 609600 w 639373"/>
              <a:gd name="connsiteY3" fmla="*/ 18344 h 589844"/>
              <a:gd name="connsiteX0" fmla="*/ 0 w 639373"/>
              <a:gd name="connsiteY0" fmla="*/ 589844 h 589844"/>
              <a:gd name="connsiteX1" fmla="*/ 152400 w 639373"/>
              <a:gd name="connsiteY1" fmla="*/ 437444 h 589844"/>
              <a:gd name="connsiteX2" fmla="*/ 314325 w 639373"/>
              <a:gd name="connsiteY2" fmla="*/ 265994 h 589844"/>
              <a:gd name="connsiteX3" fmla="*/ 619125 w 639373"/>
              <a:gd name="connsiteY3" fmla="*/ 18344 h 589844"/>
              <a:gd name="connsiteX4" fmla="*/ 609600 w 639373"/>
              <a:gd name="connsiteY4" fmla="*/ 18344 h 589844"/>
              <a:gd name="connsiteX0" fmla="*/ 0 w 639373"/>
              <a:gd name="connsiteY0" fmla="*/ 589844 h 589844"/>
              <a:gd name="connsiteX1" fmla="*/ 152400 w 639373"/>
              <a:gd name="connsiteY1" fmla="*/ 437444 h 589844"/>
              <a:gd name="connsiteX2" fmla="*/ 314325 w 639373"/>
              <a:gd name="connsiteY2" fmla="*/ 265994 h 589844"/>
              <a:gd name="connsiteX3" fmla="*/ 419100 w 639373"/>
              <a:gd name="connsiteY3" fmla="*/ 180269 h 589844"/>
              <a:gd name="connsiteX4" fmla="*/ 619125 w 639373"/>
              <a:gd name="connsiteY4" fmla="*/ 18344 h 589844"/>
              <a:gd name="connsiteX5" fmla="*/ 609600 w 639373"/>
              <a:gd name="connsiteY5" fmla="*/ 18344 h 589844"/>
              <a:gd name="connsiteX0" fmla="*/ 0 w 953698"/>
              <a:gd name="connsiteY0" fmla="*/ 1047044 h 1047044"/>
              <a:gd name="connsiteX1" fmla="*/ 466725 w 953698"/>
              <a:gd name="connsiteY1" fmla="*/ 437444 h 1047044"/>
              <a:gd name="connsiteX2" fmla="*/ 628650 w 953698"/>
              <a:gd name="connsiteY2" fmla="*/ 265994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953698"/>
              <a:gd name="connsiteY0" fmla="*/ 1047044 h 1047044"/>
              <a:gd name="connsiteX1" fmla="*/ 447675 w 953698"/>
              <a:gd name="connsiteY1" fmla="*/ 770819 h 1047044"/>
              <a:gd name="connsiteX2" fmla="*/ 628650 w 953698"/>
              <a:gd name="connsiteY2" fmla="*/ 265994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953698"/>
              <a:gd name="connsiteY0" fmla="*/ 1047044 h 1047044"/>
              <a:gd name="connsiteX1" fmla="*/ 447675 w 953698"/>
              <a:gd name="connsiteY1" fmla="*/ 770819 h 1047044"/>
              <a:gd name="connsiteX2" fmla="*/ 904875 w 953698"/>
              <a:gd name="connsiteY2" fmla="*/ 599369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1476375"/>
              <a:gd name="connsiteY0" fmla="*/ 1075972 h 1075972"/>
              <a:gd name="connsiteX1" fmla="*/ 447675 w 1476375"/>
              <a:gd name="connsiteY1" fmla="*/ 799747 h 1075972"/>
              <a:gd name="connsiteX2" fmla="*/ 904875 w 1476375"/>
              <a:gd name="connsiteY2" fmla="*/ 628297 h 1075972"/>
              <a:gd name="connsiteX3" fmla="*/ 1476375 w 1476375"/>
              <a:gd name="connsiteY3" fmla="*/ 685447 h 1075972"/>
              <a:gd name="connsiteX4" fmla="*/ 933450 w 1476375"/>
              <a:gd name="connsiteY4" fmla="*/ 47272 h 1075972"/>
              <a:gd name="connsiteX5" fmla="*/ 923925 w 1476375"/>
              <a:gd name="connsiteY5" fmla="*/ 47272 h 1075972"/>
              <a:gd name="connsiteX0" fmla="*/ 0 w 1933583"/>
              <a:gd name="connsiteY0" fmla="*/ 1028908 h 1028908"/>
              <a:gd name="connsiteX1" fmla="*/ 447675 w 1933583"/>
              <a:gd name="connsiteY1" fmla="*/ 752683 h 1028908"/>
              <a:gd name="connsiteX2" fmla="*/ 904875 w 1933583"/>
              <a:gd name="connsiteY2" fmla="*/ 581233 h 1028908"/>
              <a:gd name="connsiteX3" fmla="*/ 1476375 w 1933583"/>
              <a:gd name="connsiteY3" fmla="*/ 638383 h 1028908"/>
              <a:gd name="connsiteX4" fmla="*/ 933450 w 1933583"/>
              <a:gd name="connsiteY4" fmla="*/ 208 h 1028908"/>
              <a:gd name="connsiteX5" fmla="*/ 1933575 w 1933583"/>
              <a:gd name="connsiteY5" fmla="*/ 562183 h 1028908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796117"/>
              <a:gd name="connsiteY0" fmla="*/ 457200 h 457200"/>
              <a:gd name="connsiteX1" fmla="*/ 310217 w 1796117"/>
              <a:gd name="connsiteY1" fmla="*/ 190500 h 457200"/>
              <a:gd name="connsiteX2" fmla="*/ 767417 w 1796117"/>
              <a:gd name="connsiteY2" fmla="*/ 19050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767417 w 1796117"/>
              <a:gd name="connsiteY2" fmla="*/ 19050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6117" h="457200">
                <a:moveTo>
                  <a:pt x="0" y="457200"/>
                </a:moveTo>
                <a:lnTo>
                  <a:pt x="475166" y="171450"/>
                </a:lnTo>
                <a:lnTo>
                  <a:pt x="886547" y="9525"/>
                </a:lnTo>
                <a:lnTo>
                  <a:pt x="1338917" y="190500"/>
                </a:lnTo>
                <a:lnTo>
                  <a:pt x="1796117" y="0"/>
                </a:ln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 bwMode="auto">
          <a:xfrm>
            <a:off x="6406875" y="2914650"/>
            <a:ext cx="1838325" cy="866775"/>
          </a:xfrm>
          <a:custGeom>
            <a:avLst/>
            <a:gdLst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152400 w 619218"/>
              <a:gd name="connsiteY3" fmla="*/ 477588 h 572838"/>
              <a:gd name="connsiteX4" fmla="*/ 190500 w 619218"/>
              <a:gd name="connsiteY4" fmla="*/ 458538 h 572838"/>
              <a:gd name="connsiteX5" fmla="*/ 209550 w 619218"/>
              <a:gd name="connsiteY5" fmla="*/ 410913 h 572838"/>
              <a:gd name="connsiteX6" fmla="*/ 219075 w 619218"/>
              <a:gd name="connsiteY6" fmla="*/ 372813 h 572838"/>
              <a:gd name="connsiteX7" fmla="*/ 238125 w 619218"/>
              <a:gd name="connsiteY7" fmla="*/ 344238 h 572838"/>
              <a:gd name="connsiteX8" fmla="*/ 276225 w 619218"/>
              <a:gd name="connsiteY8" fmla="*/ 277563 h 572838"/>
              <a:gd name="connsiteX9" fmla="*/ 314325 w 619218"/>
              <a:gd name="connsiteY9" fmla="*/ 248988 h 572838"/>
              <a:gd name="connsiteX10" fmla="*/ 352425 w 619218"/>
              <a:gd name="connsiteY10" fmla="*/ 210888 h 572838"/>
              <a:gd name="connsiteX11" fmla="*/ 428625 w 619218"/>
              <a:gd name="connsiteY11" fmla="*/ 172788 h 572838"/>
              <a:gd name="connsiteX12" fmla="*/ 533400 w 619218"/>
              <a:gd name="connsiteY12" fmla="*/ 87063 h 572838"/>
              <a:gd name="connsiteX13" fmla="*/ 571500 w 619218"/>
              <a:gd name="connsiteY13" fmla="*/ 58488 h 572838"/>
              <a:gd name="connsiteX14" fmla="*/ 619125 w 619218"/>
              <a:gd name="connsiteY14" fmla="*/ 1338 h 572838"/>
              <a:gd name="connsiteX15" fmla="*/ 609600 w 619218"/>
              <a:gd name="connsiteY15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152400 w 619218"/>
              <a:gd name="connsiteY3" fmla="*/ 477588 h 572838"/>
              <a:gd name="connsiteX4" fmla="*/ 209550 w 619218"/>
              <a:gd name="connsiteY4" fmla="*/ 410913 h 572838"/>
              <a:gd name="connsiteX5" fmla="*/ 219075 w 619218"/>
              <a:gd name="connsiteY5" fmla="*/ 372813 h 572838"/>
              <a:gd name="connsiteX6" fmla="*/ 238125 w 619218"/>
              <a:gd name="connsiteY6" fmla="*/ 344238 h 572838"/>
              <a:gd name="connsiteX7" fmla="*/ 276225 w 619218"/>
              <a:gd name="connsiteY7" fmla="*/ 277563 h 572838"/>
              <a:gd name="connsiteX8" fmla="*/ 314325 w 619218"/>
              <a:gd name="connsiteY8" fmla="*/ 248988 h 572838"/>
              <a:gd name="connsiteX9" fmla="*/ 352425 w 619218"/>
              <a:gd name="connsiteY9" fmla="*/ 210888 h 572838"/>
              <a:gd name="connsiteX10" fmla="*/ 428625 w 619218"/>
              <a:gd name="connsiteY10" fmla="*/ 172788 h 572838"/>
              <a:gd name="connsiteX11" fmla="*/ 533400 w 619218"/>
              <a:gd name="connsiteY11" fmla="*/ 87063 h 572838"/>
              <a:gd name="connsiteX12" fmla="*/ 571500 w 619218"/>
              <a:gd name="connsiteY12" fmla="*/ 58488 h 572838"/>
              <a:gd name="connsiteX13" fmla="*/ 619125 w 619218"/>
              <a:gd name="connsiteY13" fmla="*/ 1338 h 572838"/>
              <a:gd name="connsiteX14" fmla="*/ 609600 w 619218"/>
              <a:gd name="connsiteY14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09550 w 619218"/>
              <a:gd name="connsiteY3" fmla="*/ 410913 h 572838"/>
              <a:gd name="connsiteX4" fmla="*/ 219075 w 619218"/>
              <a:gd name="connsiteY4" fmla="*/ 372813 h 572838"/>
              <a:gd name="connsiteX5" fmla="*/ 238125 w 619218"/>
              <a:gd name="connsiteY5" fmla="*/ 344238 h 572838"/>
              <a:gd name="connsiteX6" fmla="*/ 276225 w 619218"/>
              <a:gd name="connsiteY6" fmla="*/ 277563 h 572838"/>
              <a:gd name="connsiteX7" fmla="*/ 314325 w 619218"/>
              <a:gd name="connsiteY7" fmla="*/ 248988 h 572838"/>
              <a:gd name="connsiteX8" fmla="*/ 352425 w 619218"/>
              <a:gd name="connsiteY8" fmla="*/ 210888 h 572838"/>
              <a:gd name="connsiteX9" fmla="*/ 428625 w 619218"/>
              <a:gd name="connsiteY9" fmla="*/ 172788 h 572838"/>
              <a:gd name="connsiteX10" fmla="*/ 533400 w 619218"/>
              <a:gd name="connsiteY10" fmla="*/ 87063 h 572838"/>
              <a:gd name="connsiteX11" fmla="*/ 571500 w 619218"/>
              <a:gd name="connsiteY11" fmla="*/ 58488 h 572838"/>
              <a:gd name="connsiteX12" fmla="*/ 619125 w 619218"/>
              <a:gd name="connsiteY12" fmla="*/ 1338 h 572838"/>
              <a:gd name="connsiteX13" fmla="*/ 609600 w 619218"/>
              <a:gd name="connsiteY13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19075 w 619218"/>
              <a:gd name="connsiteY3" fmla="*/ 372813 h 572838"/>
              <a:gd name="connsiteX4" fmla="*/ 238125 w 619218"/>
              <a:gd name="connsiteY4" fmla="*/ 344238 h 572838"/>
              <a:gd name="connsiteX5" fmla="*/ 276225 w 619218"/>
              <a:gd name="connsiteY5" fmla="*/ 277563 h 572838"/>
              <a:gd name="connsiteX6" fmla="*/ 314325 w 619218"/>
              <a:gd name="connsiteY6" fmla="*/ 248988 h 572838"/>
              <a:gd name="connsiteX7" fmla="*/ 352425 w 619218"/>
              <a:gd name="connsiteY7" fmla="*/ 210888 h 572838"/>
              <a:gd name="connsiteX8" fmla="*/ 428625 w 619218"/>
              <a:gd name="connsiteY8" fmla="*/ 172788 h 572838"/>
              <a:gd name="connsiteX9" fmla="*/ 533400 w 619218"/>
              <a:gd name="connsiteY9" fmla="*/ 87063 h 572838"/>
              <a:gd name="connsiteX10" fmla="*/ 571500 w 619218"/>
              <a:gd name="connsiteY10" fmla="*/ 58488 h 572838"/>
              <a:gd name="connsiteX11" fmla="*/ 619125 w 619218"/>
              <a:gd name="connsiteY11" fmla="*/ 1338 h 572838"/>
              <a:gd name="connsiteX12" fmla="*/ 609600 w 619218"/>
              <a:gd name="connsiteY12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19075 w 619218"/>
              <a:gd name="connsiteY3" fmla="*/ 372813 h 572838"/>
              <a:gd name="connsiteX4" fmla="*/ 276225 w 619218"/>
              <a:gd name="connsiteY4" fmla="*/ 277563 h 572838"/>
              <a:gd name="connsiteX5" fmla="*/ 314325 w 619218"/>
              <a:gd name="connsiteY5" fmla="*/ 248988 h 572838"/>
              <a:gd name="connsiteX6" fmla="*/ 352425 w 619218"/>
              <a:gd name="connsiteY6" fmla="*/ 210888 h 572838"/>
              <a:gd name="connsiteX7" fmla="*/ 428625 w 619218"/>
              <a:gd name="connsiteY7" fmla="*/ 172788 h 572838"/>
              <a:gd name="connsiteX8" fmla="*/ 533400 w 619218"/>
              <a:gd name="connsiteY8" fmla="*/ 87063 h 572838"/>
              <a:gd name="connsiteX9" fmla="*/ 571500 w 619218"/>
              <a:gd name="connsiteY9" fmla="*/ 58488 h 572838"/>
              <a:gd name="connsiteX10" fmla="*/ 619125 w 619218"/>
              <a:gd name="connsiteY10" fmla="*/ 1338 h 572838"/>
              <a:gd name="connsiteX11" fmla="*/ 609600 w 619218"/>
              <a:gd name="connsiteY11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276225 w 619218"/>
              <a:gd name="connsiteY3" fmla="*/ 277563 h 572838"/>
              <a:gd name="connsiteX4" fmla="*/ 314325 w 619218"/>
              <a:gd name="connsiteY4" fmla="*/ 248988 h 572838"/>
              <a:gd name="connsiteX5" fmla="*/ 352425 w 619218"/>
              <a:gd name="connsiteY5" fmla="*/ 210888 h 572838"/>
              <a:gd name="connsiteX6" fmla="*/ 428625 w 619218"/>
              <a:gd name="connsiteY6" fmla="*/ 172788 h 572838"/>
              <a:gd name="connsiteX7" fmla="*/ 533400 w 619218"/>
              <a:gd name="connsiteY7" fmla="*/ 87063 h 572838"/>
              <a:gd name="connsiteX8" fmla="*/ 571500 w 619218"/>
              <a:gd name="connsiteY8" fmla="*/ 58488 h 572838"/>
              <a:gd name="connsiteX9" fmla="*/ 619125 w 619218"/>
              <a:gd name="connsiteY9" fmla="*/ 1338 h 572838"/>
              <a:gd name="connsiteX10" fmla="*/ 609600 w 619218"/>
              <a:gd name="connsiteY10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352425 w 619218"/>
              <a:gd name="connsiteY4" fmla="*/ 210888 h 572838"/>
              <a:gd name="connsiteX5" fmla="*/ 428625 w 619218"/>
              <a:gd name="connsiteY5" fmla="*/ 172788 h 572838"/>
              <a:gd name="connsiteX6" fmla="*/ 533400 w 619218"/>
              <a:gd name="connsiteY6" fmla="*/ 87063 h 572838"/>
              <a:gd name="connsiteX7" fmla="*/ 571500 w 619218"/>
              <a:gd name="connsiteY7" fmla="*/ 58488 h 572838"/>
              <a:gd name="connsiteX8" fmla="*/ 619125 w 619218"/>
              <a:gd name="connsiteY8" fmla="*/ 1338 h 572838"/>
              <a:gd name="connsiteX9" fmla="*/ 609600 w 619218"/>
              <a:gd name="connsiteY9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428625 w 619218"/>
              <a:gd name="connsiteY4" fmla="*/ 172788 h 572838"/>
              <a:gd name="connsiteX5" fmla="*/ 533400 w 619218"/>
              <a:gd name="connsiteY5" fmla="*/ 87063 h 572838"/>
              <a:gd name="connsiteX6" fmla="*/ 571500 w 619218"/>
              <a:gd name="connsiteY6" fmla="*/ 58488 h 572838"/>
              <a:gd name="connsiteX7" fmla="*/ 619125 w 619218"/>
              <a:gd name="connsiteY7" fmla="*/ 1338 h 572838"/>
              <a:gd name="connsiteX8" fmla="*/ 609600 w 619218"/>
              <a:gd name="connsiteY8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533400 w 619218"/>
              <a:gd name="connsiteY4" fmla="*/ 87063 h 572838"/>
              <a:gd name="connsiteX5" fmla="*/ 571500 w 619218"/>
              <a:gd name="connsiteY5" fmla="*/ 58488 h 572838"/>
              <a:gd name="connsiteX6" fmla="*/ 619125 w 619218"/>
              <a:gd name="connsiteY6" fmla="*/ 1338 h 572838"/>
              <a:gd name="connsiteX7" fmla="*/ 609600 w 619218"/>
              <a:gd name="connsiteY7" fmla="*/ 1338 h 572838"/>
              <a:gd name="connsiteX0" fmla="*/ 0 w 619218"/>
              <a:gd name="connsiteY0" fmla="*/ 572838 h 572838"/>
              <a:gd name="connsiteX1" fmla="*/ 57150 w 619218"/>
              <a:gd name="connsiteY1" fmla="*/ 553788 h 572838"/>
              <a:gd name="connsiteX2" fmla="*/ 123825 w 619218"/>
              <a:gd name="connsiteY2" fmla="*/ 506163 h 572838"/>
              <a:gd name="connsiteX3" fmla="*/ 314325 w 619218"/>
              <a:gd name="connsiteY3" fmla="*/ 248988 h 572838"/>
              <a:gd name="connsiteX4" fmla="*/ 571500 w 619218"/>
              <a:gd name="connsiteY4" fmla="*/ 58488 h 572838"/>
              <a:gd name="connsiteX5" fmla="*/ 619125 w 619218"/>
              <a:gd name="connsiteY5" fmla="*/ 1338 h 572838"/>
              <a:gd name="connsiteX6" fmla="*/ 609600 w 619218"/>
              <a:gd name="connsiteY6" fmla="*/ 1338 h 572838"/>
              <a:gd name="connsiteX0" fmla="*/ 0 w 639373"/>
              <a:gd name="connsiteY0" fmla="*/ 589844 h 589844"/>
              <a:gd name="connsiteX1" fmla="*/ 57150 w 639373"/>
              <a:gd name="connsiteY1" fmla="*/ 570794 h 589844"/>
              <a:gd name="connsiteX2" fmla="*/ 123825 w 639373"/>
              <a:gd name="connsiteY2" fmla="*/ 523169 h 589844"/>
              <a:gd name="connsiteX3" fmla="*/ 314325 w 639373"/>
              <a:gd name="connsiteY3" fmla="*/ 265994 h 589844"/>
              <a:gd name="connsiteX4" fmla="*/ 619125 w 639373"/>
              <a:gd name="connsiteY4" fmla="*/ 18344 h 589844"/>
              <a:gd name="connsiteX5" fmla="*/ 609600 w 639373"/>
              <a:gd name="connsiteY5" fmla="*/ 18344 h 589844"/>
              <a:gd name="connsiteX0" fmla="*/ 0 w 639373"/>
              <a:gd name="connsiteY0" fmla="*/ 589844 h 598996"/>
              <a:gd name="connsiteX1" fmla="*/ 57150 w 639373"/>
              <a:gd name="connsiteY1" fmla="*/ 570794 h 598996"/>
              <a:gd name="connsiteX2" fmla="*/ 314325 w 639373"/>
              <a:gd name="connsiteY2" fmla="*/ 265994 h 598996"/>
              <a:gd name="connsiteX3" fmla="*/ 619125 w 639373"/>
              <a:gd name="connsiteY3" fmla="*/ 18344 h 598996"/>
              <a:gd name="connsiteX4" fmla="*/ 609600 w 639373"/>
              <a:gd name="connsiteY4" fmla="*/ 18344 h 598996"/>
              <a:gd name="connsiteX0" fmla="*/ 0 w 639373"/>
              <a:gd name="connsiteY0" fmla="*/ 589844 h 589844"/>
              <a:gd name="connsiteX1" fmla="*/ 314325 w 639373"/>
              <a:gd name="connsiteY1" fmla="*/ 265994 h 589844"/>
              <a:gd name="connsiteX2" fmla="*/ 619125 w 639373"/>
              <a:gd name="connsiteY2" fmla="*/ 18344 h 589844"/>
              <a:gd name="connsiteX3" fmla="*/ 609600 w 639373"/>
              <a:gd name="connsiteY3" fmla="*/ 18344 h 589844"/>
              <a:gd name="connsiteX0" fmla="*/ 0 w 639373"/>
              <a:gd name="connsiteY0" fmla="*/ 589844 h 589844"/>
              <a:gd name="connsiteX1" fmla="*/ 152400 w 639373"/>
              <a:gd name="connsiteY1" fmla="*/ 437444 h 589844"/>
              <a:gd name="connsiteX2" fmla="*/ 314325 w 639373"/>
              <a:gd name="connsiteY2" fmla="*/ 265994 h 589844"/>
              <a:gd name="connsiteX3" fmla="*/ 619125 w 639373"/>
              <a:gd name="connsiteY3" fmla="*/ 18344 h 589844"/>
              <a:gd name="connsiteX4" fmla="*/ 609600 w 639373"/>
              <a:gd name="connsiteY4" fmla="*/ 18344 h 589844"/>
              <a:gd name="connsiteX0" fmla="*/ 0 w 639373"/>
              <a:gd name="connsiteY0" fmla="*/ 589844 h 589844"/>
              <a:gd name="connsiteX1" fmla="*/ 152400 w 639373"/>
              <a:gd name="connsiteY1" fmla="*/ 437444 h 589844"/>
              <a:gd name="connsiteX2" fmla="*/ 314325 w 639373"/>
              <a:gd name="connsiteY2" fmla="*/ 265994 h 589844"/>
              <a:gd name="connsiteX3" fmla="*/ 419100 w 639373"/>
              <a:gd name="connsiteY3" fmla="*/ 180269 h 589844"/>
              <a:gd name="connsiteX4" fmla="*/ 619125 w 639373"/>
              <a:gd name="connsiteY4" fmla="*/ 18344 h 589844"/>
              <a:gd name="connsiteX5" fmla="*/ 609600 w 639373"/>
              <a:gd name="connsiteY5" fmla="*/ 18344 h 589844"/>
              <a:gd name="connsiteX0" fmla="*/ 0 w 953698"/>
              <a:gd name="connsiteY0" fmla="*/ 1047044 h 1047044"/>
              <a:gd name="connsiteX1" fmla="*/ 466725 w 953698"/>
              <a:gd name="connsiteY1" fmla="*/ 437444 h 1047044"/>
              <a:gd name="connsiteX2" fmla="*/ 628650 w 953698"/>
              <a:gd name="connsiteY2" fmla="*/ 265994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953698"/>
              <a:gd name="connsiteY0" fmla="*/ 1047044 h 1047044"/>
              <a:gd name="connsiteX1" fmla="*/ 447675 w 953698"/>
              <a:gd name="connsiteY1" fmla="*/ 770819 h 1047044"/>
              <a:gd name="connsiteX2" fmla="*/ 628650 w 953698"/>
              <a:gd name="connsiteY2" fmla="*/ 265994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953698"/>
              <a:gd name="connsiteY0" fmla="*/ 1047044 h 1047044"/>
              <a:gd name="connsiteX1" fmla="*/ 447675 w 953698"/>
              <a:gd name="connsiteY1" fmla="*/ 770819 h 1047044"/>
              <a:gd name="connsiteX2" fmla="*/ 904875 w 953698"/>
              <a:gd name="connsiteY2" fmla="*/ 599369 h 1047044"/>
              <a:gd name="connsiteX3" fmla="*/ 733425 w 953698"/>
              <a:gd name="connsiteY3" fmla="*/ 180269 h 1047044"/>
              <a:gd name="connsiteX4" fmla="*/ 933450 w 953698"/>
              <a:gd name="connsiteY4" fmla="*/ 18344 h 1047044"/>
              <a:gd name="connsiteX5" fmla="*/ 923925 w 953698"/>
              <a:gd name="connsiteY5" fmla="*/ 18344 h 1047044"/>
              <a:gd name="connsiteX0" fmla="*/ 0 w 1476375"/>
              <a:gd name="connsiteY0" fmla="*/ 1075972 h 1075972"/>
              <a:gd name="connsiteX1" fmla="*/ 447675 w 1476375"/>
              <a:gd name="connsiteY1" fmla="*/ 799747 h 1075972"/>
              <a:gd name="connsiteX2" fmla="*/ 904875 w 1476375"/>
              <a:gd name="connsiteY2" fmla="*/ 628297 h 1075972"/>
              <a:gd name="connsiteX3" fmla="*/ 1476375 w 1476375"/>
              <a:gd name="connsiteY3" fmla="*/ 685447 h 1075972"/>
              <a:gd name="connsiteX4" fmla="*/ 933450 w 1476375"/>
              <a:gd name="connsiteY4" fmla="*/ 47272 h 1075972"/>
              <a:gd name="connsiteX5" fmla="*/ 923925 w 1476375"/>
              <a:gd name="connsiteY5" fmla="*/ 47272 h 1075972"/>
              <a:gd name="connsiteX0" fmla="*/ 0 w 1933583"/>
              <a:gd name="connsiteY0" fmla="*/ 1028908 h 1028908"/>
              <a:gd name="connsiteX1" fmla="*/ 447675 w 1933583"/>
              <a:gd name="connsiteY1" fmla="*/ 752683 h 1028908"/>
              <a:gd name="connsiteX2" fmla="*/ 904875 w 1933583"/>
              <a:gd name="connsiteY2" fmla="*/ 581233 h 1028908"/>
              <a:gd name="connsiteX3" fmla="*/ 1476375 w 1933583"/>
              <a:gd name="connsiteY3" fmla="*/ 638383 h 1028908"/>
              <a:gd name="connsiteX4" fmla="*/ 933450 w 1933583"/>
              <a:gd name="connsiteY4" fmla="*/ 208 h 1028908"/>
              <a:gd name="connsiteX5" fmla="*/ 1933575 w 1933583"/>
              <a:gd name="connsiteY5" fmla="*/ 562183 h 1028908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762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933575"/>
              <a:gd name="connsiteY0" fmla="*/ 466725 h 466725"/>
              <a:gd name="connsiteX1" fmla="*/ 447675 w 1933575"/>
              <a:gd name="connsiteY1" fmla="*/ 190500 h 466725"/>
              <a:gd name="connsiteX2" fmla="*/ 904875 w 1933575"/>
              <a:gd name="connsiteY2" fmla="*/ 19050 h 466725"/>
              <a:gd name="connsiteX3" fmla="*/ 1476375 w 1933575"/>
              <a:gd name="connsiteY3" fmla="*/ 190500 h 466725"/>
              <a:gd name="connsiteX4" fmla="*/ 1933575 w 1933575"/>
              <a:gd name="connsiteY4" fmla="*/ 0 h 466725"/>
              <a:gd name="connsiteX0" fmla="*/ 0 w 1796117"/>
              <a:gd name="connsiteY0" fmla="*/ 457200 h 457200"/>
              <a:gd name="connsiteX1" fmla="*/ 310217 w 1796117"/>
              <a:gd name="connsiteY1" fmla="*/ 190500 h 457200"/>
              <a:gd name="connsiteX2" fmla="*/ 767417 w 1796117"/>
              <a:gd name="connsiteY2" fmla="*/ 19050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767417 w 1796117"/>
              <a:gd name="connsiteY2" fmla="*/ 19050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96117"/>
              <a:gd name="connsiteY0" fmla="*/ 457200 h 457200"/>
              <a:gd name="connsiteX1" fmla="*/ 475166 w 1796117"/>
              <a:gd name="connsiteY1" fmla="*/ 171450 h 457200"/>
              <a:gd name="connsiteX2" fmla="*/ 886547 w 1796117"/>
              <a:gd name="connsiteY2" fmla="*/ 9525 h 457200"/>
              <a:gd name="connsiteX3" fmla="*/ 1338917 w 1796117"/>
              <a:gd name="connsiteY3" fmla="*/ 190500 h 457200"/>
              <a:gd name="connsiteX4" fmla="*/ 1796117 w 1796117"/>
              <a:gd name="connsiteY4" fmla="*/ 0 h 457200"/>
              <a:gd name="connsiteX0" fmla="*/ 0 w 1777789"/>
              <a:gd name="connsiteY0" fmla="*/ 1133475 h 1133475"/>
              <a:gd name="connsiteX1" fmla="*/ 456838 w 1777789"/>
              <a:gd name="connsiteY1" fmla="*/ 171450 h 1133475"/>
              <a:gd name="connsiteX2" fmla="*/ 868219 w 1777789"/>
              <a:gd name="connsiteY2" fmla="*/ 9525 h 1133475"/>
              <a:gd name="connsiteX3" fmla="*/ 1320589 w 1777789"/>
              <a:gd name="connsiteY3" fmla="*/ 190500 h 1133475"/>
              <a:gd name="connsiteX4" fmla="*/ 1777789 w 1777789"/>
              <a:gd name="connsiteY4" fmla="*/ 0 h 1133475"/>
              <a:gd name="connsiteX0" fmla="*/ 0 w 1777789"/>
              <a:gd name="connsiteY0" fmla="*/ 1147872 h 1147872"/>
              <a:gd name="connsiteX1" fmla="*/ 401855 w 1777789"/>
              <a:gd name="connsiteY1" fmla="*/ 776397 h 1147872"/>
              <a:gd name="connsiteX2" fmla="*/ 868219 w 1777789"/>
              <a:gd name="connsiteY2" fmla="*/ 23922 h 1147872"/>
              <a:gd name="connsiteX3" fmla="*/ 1320589 w 1777789"/>
              <a:gd name="connsiteY3" fmla="*/ 204897 h 1147872"/>
              <a:gd name="connsiteX4" fmla="*/ 1777789 w 1777789"/>
              <a:gd name="connsiteY4" fmla="*/ 14397 h 1147872"/>
              <a:gd name="connsiteX0" fmla="*/ 0 w 1777789"/>
              <a:gd name="connsiteY0" fmla="*/ 1133475 h 1133475"/>
              <a:gd name="connsiteX1" fmla="*/ 401855 w 1777789"/>
              <a:gd name="connsiteY1" fmla="*/ 762000 h 1133475"/>
              <a:gd name="connsiteX2" fmla="*/ 804072 w 1777789"/>
              <a:gd name="connsiteY2" fmla="*/ 352425 h 1133475"/>
              <a:gd name="connsiteX3" fmla="*/ 1320589 w 1777789"/>
              <a:gd name="connsiteY3" fmla="*/ 190500 h 1133475"/>
              <a:gd name="connsiteX4" fmla="*/ 1777789 w 1777789"/>
              <a:gd name="connsiteY4" fmla="*/ 0 h 1133475"/>
              <a:gd name="connsiteX0" fmla="*/ 0 w 1777789"/>
              <a:gd name="connsiteY0" fmla="*/ 1133475 h 1133475"/>
              <a:gd name="connsiteX1" fmla="*/ 401855 w 1777789"/>
              <a:gd name="connsiteY1" fmla="*/ 762000 h 1133475"/>
              <a:gd name="connsiteX2" fmla="*/ 840728 w 1777789"/>
              <a:gd name="connsiteY2" fmla="*/ 476250 h 1133475"/>
              <a:gd name="connsiteX3" fmla="*/ 1320589 w 1777789"/>
              <a:gd name="connsiteY3" fmla="*/ 190500 h 1133475"/>
              <a:gd name="connsiteX4" fmla="*/ 1777789 w 1777789"/>
              <a:gd name="connsiteY4" fmla="*/ 0 h 1133475"/>
              <a:gd name="connsiteX0" fmla="*/ 0 w 1777789"/>
              <a:gd name="connsiteY0" fmla="*/ 1133475 h 1133475"/>
              <a:gd name="connsiteX1" fmla="*/ 401855 w 1777789"/>
              <a:gd name="connsiteY1" fmla="*/ 762000 h 1133475"/>
              <a:gd name="connsiteX2" fmla="*/ 840728 w 1777789"/>
              <a:gd name="connsiteY2" fmla="*/ 476250 h 1133475"/>
              <a:gd name="connsiteX3" fmla="*/ 1338917 w 1777789"/>
              <a:gd name="connsiteY3" fmla="*/ 371475 h 1133475"/>
              <a:gd name="connsiteX4" fmla="*/ 1777789 w 1777789"/>
              <a:gd name="connsiteY4" fmla="*/ 0 h 1133475"/>
              <a:gd name="connsiteX0" fmla="*/ 0 w 1777789"/>
              <a:gd name="connsiteY0" fmla="*/ 1133475 h 1133475"/>
              <a:gd name="connsiteX1" fmla="*/ 401855 w 1777789"/>
              <a:gd name="connsiteY1" fmla="*/ 762000 h 1133475"/>
              <a:gd name="connsiteX2" fmla="*/ 840728 w 1777789"/>
              <a:gd name="connsiteY2" fmla="*/ 476250 h 1133475"/>
              <a:gd name="connsiteX3" fmla="*/ 1338917 w 1777789"/>
              <a:gd name="connsiteY3" fmla="*/ 371475 h 1133475"/>
              <a:gd name="connsiteX4" fmla="*/ 1777789 w 1777789"/>
              <a:gd name="connsiteY4" fmla="*/ 0 h 1133475"/>
              <a:gd name="connsiteX0" fmla="*/ 0 w 1777789"/>
              <a:gd name="connsiteY0" fmla="*/ 1133475 h 1133475"/>
              <a:gd name="connsiteX1" fmla="*/ 401855 w 1777789"/>
              <a:gd name="connsiteY1" fmla="*/ 762000 h 1133475"/>
              <a:gd name="connsiteX2" fmla="*/ 840728 w 1777789"/>
              <a:gd name="connsiteY2" fmla="*/ 476250 h 1133475"/>
              <a:gd name="connsiteX3" fmla="*/ 1338917 w 1777789"/>
              <a:gd name="connsiteY3" fmla="*/ 371475 h 1133475"/>
              <a:gd name="connsiteX4" fmla="*/ 1777789 w 1777789"/>
              <a:gd name="connsiteY4" fmla="*/ 0 h 1133475"/>
              <a:gd name="connsiteX0" fmla="*/ 0 w 1731970"/>
              <a:gd name="connsiteY0" fmla="*/ 866775 h 866775"/>
              <a:gd name="connsiteX1" fmla="*/ 401855 w 1731970"/>
              <a:gd name="connsiteY1" fmla="*/ 495300 h 866775"/>
              <a:gd name="connsiteX2" fmla="*/ 840728 w 1731970"/>
              <a:gd name="connsiteY2" fmla="*/ 209550 h 866775"/>
              <a:gd name="connsiteX3" fmla="*/ 1338917 w 1731970"/>
              <a:gd name="connsiteY3" fmla="*/ 104775 h 866775"/>
              <a:gd name="connsiteX4" fmla="*/ 1731970 w 1731970"/>
              <a:gd name="connsiteY4" fmla="*/ 0 h 866775"/>
              <a:gd name="connsiteX0" fmla="*/ 0 w 1731970"/>
              <a:gd name="connsiteY0" fmla="*/ 762000 h 762000"/>
              <a:gd name="connsiteX1" fmla="*/ 401855 w 1731970"/>
              <a:gd name="connsiteY1" fmla="*/ 390525 h 762000"/>
              <a:gd name="connsiteX2" fmla="*/ 840728 w 1731970"/>
              <a:gd name="connsiteY2" fmla="*/ 104775 h 762000"/>
              <a:gd name="connsiteX3" fmla="*/ 1338917 w 1731970"/>
              <a:gd name="connsiteY3" fmla="*/ 0 h 762000"/>
              <a:gd name="connsiteX4" fmla="*/ 1731970 w 1731970"/>
              <a:gd name="connsiteY4" fmla="*/ 104775 h 762000"/>
              <a:gd name="connsiteX0" fmla="*/ 0 w 1731970"/>
              <a:gd name="connsiteY0" fmla="*/ 674016 h 674016"/>
              <a:gd name="connsiteX1" fmla="*/ 401855 w 1731970"/>
              <a:gd name="connsiteY1" fmla="*/ 302541 h 674016"/>
              <a:gd name="connsiteX2" fmla="*/ 840728 w 1731970"/>
              <a:gd name="connsiteY2" fmla="*/ 16791 h 674016"/>
              <a:gd name="connsiteX3" fmla="*/ 1329753 w 1731970"/>
              <a:gd name="connsiteY3" fmla="*/ 35841 h 674016"/>
              <a:gd name="connsiteX4" fmla="*/ 1731970 w 1731970"/>
              <a:gd name="connsiteY4" fmla="*/ 16791 h 674016"/>
              <a:gd name="connsiteX0" fmla="*/ 0 w 1768625"/>
              <a:gd name="connsiteY0" fmla="*/ 866775 h 866775"/>
              <a:gd name="connsiteX1" fmla="*/ 401855 w 1768625"/>
              <a:gd name="connsiteY1" fmla="*/ 495300 h 866775"/>
              <a:gd name="connsiteX2" fmla="*/ 840728 w 1768625"/>
              <a:gd name="connsiteY2" fmla="*/ 209550 h 866775"/>
              <a:gd name="connsiteX3" fmla="*/ 1329753 w 1768625"/>
              <a:gd name="connsiteY3" fmla="*/ 228600 h 866775"/>
              <a:gd name="connsiteX4" fmla="*/ 1768625 w 1768625"/>
              <a:gd name="connsiteY4" fmla="*/ 0 h 866775"/>
              <a:gd name="connsiteX0" fmla="*/ 0 w 1768625"/>
              <a:gd name="connsiteY0" fmla="*/ 866775 h 866775"/>
              <a:gd name="connsiteX1" fmla="*/ 401855 w 1768625"/>
              <a:gd name="connsiteY1" fmla="*/ 495300 h 866775"/>
              <a:gd name="connsiteX2" fmla="*/ 840728 w 1768625"/>
              <a:gd name="connsiteY2" fmla="*/ 209550 h 866775"/>
              <a:gd name="connsiteX3" fmla="*/ 1329753 w 1768625"/>
              <a:gd name="connsiteY3" fmla="*/ 228600 h 866775"/>
              <a:gd name="connsiteX4" fmla="*/ 1768625 w 1768625"/>
              <a:gd name="connsiteY4" fmla="*/ 0 h 86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8625" h="866775">
                <a:moveTo>
                  <a:pt x="0" y="866775"/>
                </a:moveTo>
                <a:lnTo>
                  <a:pt x="401855" y="495300"/>
                </a:lnTo>
                <a:cubicBezTo>
                  <a:pt x="548146" y="400050"/>
                  <a:pt x="686078" y="254000"/>
                  <a:pt x="840728" y="209550"/>
                </a:cubicBezTo>
                <a:lnTo>
                  <a:pt x="1329753" y="228600"/>
                </a:lnTo>
                <a:lnTo>
                  <a:pt x="1768625" y="0"/>
                </a:lnTo>
              </a:path>
            </a:pathLst>
          </a:custGeom>
          <a:noFill/>
          <a:ln w="38100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310328" y="2731532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Cum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8310328" y="3216533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Open</a:t>
            </a:r>
            <a:endParaRPr lang="en-US" sz="1200" dirty="0"/>
          </a:p>
        </p:txBody>
      </p:sp>
      <p:sp>
        <p:nvSpPr>
          <p:cNvPr id="21" name="Rectangle 20"/>
          <p:cNvSpPr/>
          <p:nvPr/>
        </p:nvSpPr>
        <p:spPr>
          <a:xfrm>
            <a:off x="4424128" y="4919662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50" dirty="0"/>
              <a:t>M. Godfrey and Q. </a:t>
            </a:r>
            <a:r>
              <a:rPr lang="en-US" sz="1050" dirty="0" err="1"/>
              <a:t>Tu</a:t>
            </a:r>
            <a:r>
              <a:rPr lang="en-US" sz="1050" dirty="0"/>
              <a:t> "Evolution in Open Source Software," </a:t>
            </a:r>
            <a:r>
              <a:rPr lang="en-US" sz="1050" i="1" dirty="0" smtClean="0"/>
              <a:t>International </a:t>
            </a:r>
            <a:r>
              <a:rPr lang="en-US" sz="1050" i="1" dirty="0"/>
              <a:t>Conference on Software Maintenance</a:t>
            </a:r>
            <a:r>
              <a:rPr lang="en-US" sz="1050" dirty="0"/>
              <a:t>, 2000.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96558" y="2520434"/>
            <a:ext cx="3566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PEOIWSINST 5234.1 (Jan 2012)</a:t>
            </a:r>
          </a:p>
        </p:txBody>
      </p:sp>
    </p:spTree>
    <p:extLst>
      <p:ext uri="{BB962C8B-B14F-4D97-AF65-F5344CB8AC3E}">
        <p14:creationId xmlns:p14="http://schemas.microsoft.com/office/powerpoint/2010/main" val="142007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 – </a:t>
            </a:r>
            <a:r>
              <a:rPr lang="en-US" dirty="0" smtClean="0"/>
              <a:t>Name-value conflicts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5029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/>
              <a:t>Cyclomatic</a:t>
            </a:r>
            <a:r>
              <a:rPr lang="en-US" dirty="0" smtClean="0"/>
              <a:t> complexity</a:t>
            </a:r>
          </a:p>
          <a:p>
            <a:pPr marL="0" indent="0">
              <a:buNone/>
            </a:pPr>
            <a:r>
              <a:rPr lang="en-US" dirty="0" smtClean="0"/>
              <a:t>The number of cycles that exist within a given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More cycles = More complex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Counter examples abound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“Complexity” is a misleading name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026" name="Picture 2" descr="http://gifmaker.me/files/download/home/20180719/07/Lhvd1CXpnTcreWjgm8h5tN/output_gYLTGZ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530130"/>
            <a:ext cx="2299741" cy="342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548" y="4906270"/>
            <a:ext cx="2724530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Beautiful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1"/>
            <a:ext cx="4419600" cy="374386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Chidamber</a:t>
            </a:r>
            <a:r>
              <a:rPr lang="en-US" dirty="0"/>
              <a:t> and </a:t>
            </a:r>
            <a:r>
              <a:rPr lang="en-US" dirty="0" err="1"/>
              <a:t>Kemerer</a:t>
            </a:r>
            <a:r>
              <a:rPr lang="en-US" dirty="0"/>
              <a:t>, 1994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Metrics provide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Data ≠ Intel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Disagreement on computation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Disagreement on outcome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Numerical quantities ≠ Predictable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5884645"/>
            <a:ext cx="8763000" cy="51615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6200" y="5732245"/>
            <a:ext cx="8763000" cy="516155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Software metrics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 may 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not indicate goodness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044" y="1463646"/>
            <a:ext cx="2709472" cy="1762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932" y="3256128"/>
            <a:ext cx="2223697" cy="81734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4225869"/>
            <a:ext cx="1985962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45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 Analysis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4191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Code Traversal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Completeness and correctness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File by file, line by 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Accommodate several visitors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Visitor Design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Analyze the portion presented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String </a:t>
            </a:r>
            <a:r>
              <a:rPr lang="en-US" dirty="0" smtClean="0"/>
              <a:t>Matching, </a:t>
            </a:r>
            <a:r>
              <a:rPr lang="en-US" dirty="0" err="1" smtClean="0"/>
              <a:t>RegEx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input into traversal path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Limited insight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Develop lexicons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Pattern matching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lded Corner 4"/>
          <p:cNvSpPr/>
          <p:nvPr/>
        </p:nvSpPr>
        <p:spPr bwMode="auto">
          <a:xfrm>
            <a:off x="4942772" y="162015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6" name="Folded Corner 5"/>
          <p:cNvSpPr/>
          <p:nvPr/>
        </p:nvSpPr>
        <p:spPr bwMode="auto">
          <a:xfrm>
            <a:off x="5791200" y="1622196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7" name="Folded Corner 6"/>
          <p:cNvSpPr/>
          <p:nvPr/>
        </p:nvSpPr>
        <p:spPr bwMode="auto">
          <a:xfrm>
            <a:off x="6629400" y="162015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8" name="Folded Corner 7"/>
          <p:cNvSpPr/>
          <p:nvPr/>
        </p:nvSpPr>
        <p:spPr bwMode="auto">
          <a:xfrm>
            <a:off x="7467600" y="162015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5016415" y="1701465"/>
            <a:ext cx="2573289" cy="480116"/>
          </a:xfrm>
          <a:custGeom>
            <a:avLst/>
            <a:gdLst>
              <a:gd name="connsiteX0" fmla="*/ 0 w 2559093"/>
              <a:gd name="connsiteY0" fmla="*/ 368215 h 478679"/>
              <a:gd name="connsiteX1" fmla="*/ 895989 w 2559093"/>
              <a:gd name="connsiteY1" fmla="*/ 36822 h 478679"/>
              <a:gd name="connsiteX2" fmla="*/ 1675377 w 2559093"/>
              <a:gd name="connsiteY2" fmla="*/ 478679 h 478679"/>
              <a:gd name="connsiteX3" fmla="*/ 2559093 w 2559093"/>
              <a:gd name="connsiteY3" fmla="*/ 184107 h 478679"/>
              <a:gd name="connsiteX4" fmla="*/ 926674 w 2559093"/>
              <a:gd name="connsiteY4" fmla="*/ 349804 h 478679"/>
              <a:gd name="connsiteX5" fmla="*/ 1712199 w 2559093"/>
              <a:gd name="connsiteY5" fmla="*/ 0 h 478679"/>
              <a:gd name="connsiteX0" fmla="*/ 0 w 2559093"/>
              <a:gd name="connsiteY0" fmla="*/ 368215 h 478679"/>
              <a:gd name="connsiteX1" fmla="*/ 895989 w 2559093"/>
              <a:gd name="connsiteY1" fmla="*/ 36822 h 478679"/>
              <a:gd name="connsiteX2" fmla="*/ 1675377 w 2559093"/>
              <a:gd name="connsiteY2" fmla="*/ 478679 h 478679"/>
              <a:gd name="connsiteX3" fmla="*/ 2559093 w 2559093"/>
              <a:gd name="connsiteY3" fmla="*/ 184107 h 478679"/>
              <a:gd name="connsiteX4" fmla="*/ 926674 w 2559093"/>
              <a:gd name="connsiteY4" fmla="*/ 349804 h 478679"/>
              <a:gd name="connsiteX5" fmla="*/ 1712199 w 2559093"/>
              <a:gd name="connsiteY5" fmla="*/ 0 h 478679"/>
              <a:gd name="connsiteX0" fmla="*/ 0 w 2559093"/>
              <a:gd name="connsiteY0" fmla="*/ 368215 h 478679"/>
              <a:gd name="connsiteX1" fmla="*/ 895989 w 2559093"/>
              <a:gd name="connsiteY1" fmla="*/ 36822 h 478679"/>
              <a:gd name="connsiteX2" fmla="*/ 1675377 w 2559093"/>
              <a:gd name="connsiteY2" fmla="*/ 478679 h 478679"/>
              <a:gd name="connsiteX3" fmla="*/ 2559093 w 2559093"/>
              <a:gd name="connsiteY3" fmla="*/ 184107 h 478679"/>
              <a:gd name="connsiteX4" fmla="*/ 926674 w 2559093"/>
              <a:gd name="connsiteY4" fmla="*/ 349804 h 478679"/>
              <a:gd name="connsiteX5" fmla="*/ 1712199 w 2559093"/>
              <a:gd name="connsiteY5" fmla="*/ 0 h 478679"/>
              <a:gd name="connsiteX0" fmla="*/ 0 w 2559093"/>
              <a:gd name="connsiteY0" fmla="*/ 368215 h 478679"/>
              <a:gd name="connsiteX1" fmla="*/ 895989 w 2559093"/>
              <a:gd name="connsiteY1" fmla="*/ 36822 h 478679"/>
              <a:gd name="connsiteX2" fmla="*/ 1675377 w 2559093"/>
              <a:gd name="connsiteY2" fmla="*/ 478679 h 478679"/>
              <a:gd name="connsiteX3" fmla="*/ 2559093 w 2559093"/>
              <a:gd name="connsiteY3" fmla="*/ 184107 h 478679"/>
              <a:gd name="connsiteX4" fmla="*/ 926674 w 2559093"/>
              <a:gd name="connsiteY4" fmla="*/ 349804 h 478679"/>
              <a:gd name="connsiteX5" fmla="*/ 1712199 w 2559093"/>
              <a:gd name="connsiteY5" fmla="*/ 0 h 478679"/>
              <a:gd name="connsiteX0" fmla="*/ 0 w 2559093"/>
              <a:gd name="connsiteY0" fmla="*/ 368215 h 478679"/>
              <a:gd name="connsiteX1" fmla="*/ 895989 w 2559093"/>
              <a:gd name="connsiteY1" fmla="*/ 36822 h 478679"/>
              <a:gd name="connsiteX2" fmla="*/ 1675377 w 2559093"/>
              <a:gd name="connsiteY2" fmla="*/ 478679 h 478679"/>
              <a:gd name="connsiteX3" fmla="*/ 2559093 w 2559093"/>
              <a:gd name="connsiteY3" fmla="*/ 184107 h 478679"/>
              <a:gd name="connsiteX4" fmla="*/ 926674 w 2559093"/>
              <a:gd name="connsiteY4" fmla="*/ 349804 h 478679"/>
              <a:gd name="connsiteX5" fmla="*/ 1712199 w 2559093"/>
              <a:gd name="connsiteY5" fmla="*/ 0 h 478679"/>
              <a:gd name="connsiteX0" fmla="*/ 0 w 2573289"/>
              <a:gd name="connsiteY0" fmla="*/ 368215 h 480116"/>
              <a:gd name="connsiteX1" fmla="*/ 895989 w 2573289"/>
              <a:gd name="connsiteY1" fmla="*/ 36822 h 480116"/>
              <a:gd name="connsiteX2" fmla="*/ 1675377 w 2573289"/>
              <a:gd name="connsiteY2" fmla="*/ 478679 h 480116"/>
              <a:gd name="connsiteX3" fmla="*/ 2559093 w 2573289"/>
              <a:gd name="connsiteY3" fmla="*/ 184107 h 480116"/>
              <a:gd name="connsiteX4" fmla="*/ 926674 w 2573289"/>
              <a:gd name="connsiteY4" fmla="*/ 349804 h 480116"/>
              <a:gd name="connsiteX5" fmla="*/ 1712199 w 2573289"/>
              <a:gd name="connsiteY5" fmla="*/ 0 h 480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3289" h="480116">
                <a:moveTo>
                  <a:pt x="0" y="368215"/>
                </a:moveTo>
                <a:cubicBezTo>
                  <a:pt x="298663" y="257751"/>
                  <a:pt x="616760" y="18411"/>
                  <a:pt x="895989" y="36822"/>
                </a:cubicBezTo>
                <a:cubicBezTo>
                  <a:pt x="1175219" y="55233"/>
                  <a:pt x="1398193" y="454132"/>
                  <a:pt x="1675377" y="478679"/>
                </a:cubicBezTo>
                <a:cubicBezTo>
                  <a:pt x="1952561" y="503226"/>
                  <a:pt x="2683877" y="205586"/>
                  <a:pt x="2559093" y="184107"/>
                </a:cubicBezTo>
                <a:cubicBezTo>
                  <a:pt x="2434309" y="162628"/>
                  <a:pt x="1067823" y="380488"/>
                  <a:pt x="926674" y="349804"/>
                </a:cubicBezTo>
                <a:cubicBezTo>
                  <a:pt x="785525" y="319120"/>
                  <a:pt x="1450357" y="116601"/>
                  <a:pt x="1712199" y="0"/>
                </a:cubicBezTo>
              </a:path>
            </a:pathLst>
          </a:cu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stealth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540732"/>
            <a:ext cx="3667445" cy="631531"/>
          </a:xfrm>
          <a:prstGeom prst="rect">
            <a:avLst/>
          </a:prstGeom>
        </p:spPr>
      </p:pic>
      <p:sp>
        <p:nvSpPr>
          <p:cNvPr id="18" name="Rounded Rectangular Callout 17"/>
          <p:cNvSpPr/>
          <p:nvPr/>
        </p:nvSpPr>
        <p:spPr bwMode="auto">
          <a:xfrm>
            <a:off x="5714593" y="2762396"/>
            <a:ext cx="1226641" cy="446258"/>
          </a:xfrm>
          <a:prstGeom prst="wedgeRoundRectCallout">
            <a:avLst>
              <a:gd name="adj1" fmla="val -19125"/>
              <a:gd name="adj2" fmla="val 122264"/>
              <a:gd name="adj3" fmla="val 16667"/>
            </a:avLst>
          </a:prstGeom>
          <a:gradFill flip="none" rotWithShape="1">
            <a:gsLst>
              <a:gs pos="0">
                <a:schemeClr val="accent3">
                  <a:lumMod val="85000"/>
                  <a:shade val="30000"/>
                  <a:satMod val="115000"/>
                </a:schemeClr>
              </a:gs>
              <a:gs pos="50000">
                <a:schemeClr val="accent3">
                  <a:lumMod val="85000"/>
                  <a:shade val="67500"/>
                  <a:satMod val="115000"/>
                </a:schemeClr>
              </a:gs>
              <a:gs pos="100000">
                <a:schemeClr val="accent3">
                  <a:lumMod val="8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cs typeface="Arial" charset="0"/>
              </a:rPr>
              <a:t>Code structure=kids</a:t>
            </a:r>
            <a:endParaRPr kumimoji="0" lang="en-US" sz="1100" b="1" i="0" u="none" strike="noStrike" cap="none" normalizeH="0" baseline="0" dirty="0" smtClean="0">
              <a:ln>
                <a:noFill/>
              </a:ln>
              <a:effectLst/>
              <a:latin typeface="Arial" charset="0"/>
              <a:cs typeface="Arial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569" y="5017973"/>
            <a:ext cx="3584372" cy="132690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046" y="3343473"/>
            <a:ext cx="676369" cy="866896"/>
          </a:xfrm>
          <a:prstGeom prst="rect">
            <a:avLst/>
          </a:prstGeom>
        </p:spPr>
      </p:pic>
      <p:sp>
        <p:nvSpPr>
          <p:cNvPr id="22" name="Rounded Rectangular Callout 21"/>
          <p:cNvSpPr/>
          <p:nvPr/>
        </p:nvSpPr>
        <p:spPr bwMode="auto">
          <a:xfrm>
            <a:off x="4218987" y="2818377"/>
            <a:ext cx="1226641" cy="304800"/>
          </a:xfrm>
          <a:prstGeom prst="wedgeRoundRectCallout">
            <a:avLst>
              <a:gd name="adj1" fmla="val -19125"/>
              <a:gd name="adj2" fmla="val 122264"/>
              <a:gd name="adj3" fmla="val 16667"/>
            </a:avLst>
          </a:prstGeom>
          <a:gradFill flip="none" rotWithShape="1">
            <a:gsLst>
              <a:gs pos="0">
                <a:schemeClr val="accent3">
                  <a:lumMod val="85000"/>
                  <a:shade val="30000"/>
                  <a:satMod val="115000"/>
                </a:schemeClr>
              </a:gs>
              <a:gs pos="50000">
                <a:schemeClr val="accent3">
                  <a:lumMod val="85000"/>
                  <a:shade val="67500"/>
                  <a:satMod val="115000"/>
                </a:schemeClr>
              </a:gs>
              <a:gs pos="100000">
                <a:schemeClr val="accent3">
                  <a:lumMod val="8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cs typeface="Arial" charset="0"/>
              </a:rPr>
              <a:t>Visitor=Doctor</a:t>
            </a:r>
            <a:endParaRPr kumimoji="0" lang="en-US" sz="1100" b="1" i="0" u="none" strike="noStrike" cap="none" normalizeH="0" baseline="0" dirty="0" smtClean="0">
              <a:ln>
                <a:noFill/>
              </a:ln>
              <a:effectLst/>
              <a:latin typeface="Arial" charset="0"/>
              <a:cs typeface="Arial" charset="0"/>
            </a:endParaRPr>
          </a:p>
        </p:txBody>
      </p:sp>
      <p:sp>
        <p:nvSpPr>
          <p:cNvPr id="23" name="Rounded Rectangular Callout 22"/>
          <p:cNvSpPr/>
          <p:nvPr/>
        </p:nvSpPr>
        <p:spPr bwMode="auto">
          <a:xfrm>
            <a:off x="6066434" y="4641437"/>
            <a:ext cx="1523270" cy="304800"/>
          </a:xfrm>
          <a:prstGeom prst="wedgeRoundRectCallout">
            <a:avLst>
              <a:gd name="adj1" fmla="val -19125"/>
              <a:gd name="adj2" fmla="val 122264"/>
              <a:gd name="adj3" fmla="val 16667"/>
            </a:avLst>
          </a:prstGeom>
          <a:gradFill flip="none" rotWithShape="1">
            <a:gsLst>
              <a:gs pos="0">
                <a:schemeClr val="accent3">
                  <a:lumMod val="85000"/>
                  <a:shade val="30000"/>
                  <a:satMod val="115000"/>
                </a:schemeClr>
              </a:gs>
              <a:gs pos="50000">
                <a:schemeClr val="accent3">
                  <a:lumMod val="85000"/>
                  <a:shade val="67500"/>
                  <a:satMod val="115000"/>
                </a:schemeClr>
              </a:gs>
              <a:gs pos="100000">
                <a:schemeClr val="accent3">
                  <a:lumMod val="8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cs typeface="Arial" charset="0"/>
              </a:rPr>
              <a:t>Visitors=Clueless</a:t>
            </a:r>
            <a:endParaRPr kumimoji="0" lang="en-US" sz="1100" b="1" i="0" u="none" strike="noStrike" cap="none" normalizeH="0" baseline="0" dirty="0" smtClean="0">
              <a:ln>
                <a:noFill/>
              </a:ln>
              <a:effectLst/>
              <a:latin typeface="Arial" charset="0"/>
              <a:cs typeface="Arial" charset="0"/>
            </a:endParaRPr>
          </a:p>
        </p:txBody>
      </p:sp>
      <p:sp>
        <p:nvSpPr>
          <p:cNvPr id="24" name="Rounded Rectangular Callout 23"/>
          <p:cNvSpPr/>
          <p:nvPr/>
        </p:nvSpPr>
        <p:spPr bwMode="auto">
          <a:xfrm>
            <a:off x="4069343" y="4617720"/>
            <a:ext cx="1349305" cy="335280"/>
          </a:xfrm>
          <a:prstGeom prst="wedgeRoundRectCallout">
            <a:avLst>
              <a:gd name="adj1" fmla="val 32125"/>
              <a:gd name="adj2" fmla="val 113726"/>
              <a:gd name="adj3" fmla="val 16667"/>
            </a:avLst>
          </a:prstGeom>
          <a:gradFill flip="none" rotWithShape="1">
            <a:gsLst>
              <a:gs pos="0">
                <a:schemeClr val="accent3">
                  <a:lumMod val="85000"/>
                  <a:shade val="30000"/>
                  <a:satMod val="115000"/>
                </a:schemeClr>
              </a:gs>
              <a:gs pos="50000">
                <a:schemeClr val="accent3">
                  <a:lumMod val="85000"/>
                  <a:shade val="67500"/>
                  <a:satMod val="115000"/>
                </a:schemeClr>
              </a:gs>
              <a:gs pos="100000">
                <a:schemeClr val="accent3">
                  <a:lumMod val="8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cs typeface="Arial" charset="0"/>
              </a:rPr>
              <a:t>Guide=traversal</a:t>
            </a:r>
            <a:endParaRPr kumimoji="0" lang="en-US" sz="1100" b="1" i="0" u="none" strike="noStrike" cap="none" normalizeH="0" baseline="0" dirty="0" smtClean="0">
              <a:ln>
                <a:noFill/>
              </a:ln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35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Precision and Efficiency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4191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30% False Positives is “acceptable”</a:t>
            </a:r>
          </a:p>
          <a:p>
            <a:pPr marL="0" indent="0">
              <a:buNone/>
            </a:pPr>
            <a:r>
              <a:rPr lang="en-US" dirty="0" smtClean="0"/>
              <a:t>20% False Positives is “stable”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Bessy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/>
              <a:t>Kremenek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Current research points to much higher FP rates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Atunes</a:t>
            </a:r>
            <a:r>
              <a:rPr lang="en-US" dirty="0" smtClean="0"/>
              <a:t> found 68% </a:t>
            </a:r>
            <a:r>
              <a:rPr lang="en-US" dirty="0" smtClean="0"/>
              <a:t>FP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Barriers to Automated Analysis</a:t>
            </a:r>
            <a:endParaRPr lang="en-US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Excessive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value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Devalued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Risk acceptance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14900" y="1870959"/>
            <a:ext cx="3886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Dr. </a:t>
            </a:r>
            <a:r>
              <a:rPr lang="en-US" b="1" u="sng" dirty="0" smtClean="0"/>
              <a:t>Java</a:t>
            </a:r>
          </a:p>
          <a:p>
            <a:pPr algn="ctr"/>
            <a:r>
              <a:rPr lang="en-US" dirty="0" smtClean="0"/>
              <a:t>1256 </a:t>
            </a:r>
            <a:r>
              <a:rPr lang="en-US" dirty="0"/>
              <a:t>source </a:t>
            </a:r>
            <a:r>
              <a:rPr lang="en-US" dirty="0" smtClean="0"/>
              <a:t>files</a:t>
            </a:r>
          </a:p>
          <a:p>
            <a:pPr algn="ctr"/>
            <a:r>
              <a:rPr lang="en-US" dirty="0" smtClean="0"/>
              <a:t>162,123 </a:t>
            </a:r>
            <a:r>
              <a:rPr lang="en-US" dirty="0"/>
              <a:t>lines of code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113" y="2965100"/>
            <a:ext cx="4433887" cy="19955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40" y="5212008"/>
            <a:ext cx="4189978" cy="8839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4648200" y="1371600"/>
            <a:ext cx="4419600" cy="4876800"/>
          </a:xfrm>
          <a:prstGeom prst="rect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14900" y="1447800"/>
            <a:ext cx="4041018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Dahlgren Paper Study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64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 Many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3" name="Text Placeholder 1"/>
          <p:cNvSpPr txBox="1">
            <a:spLocks/>
          </p:cNvSpPr>
          <p:nvPr/>
        </p:nvSpPr>
        <p:spPr>
          <a:xfrm>
            <a:off x="298450" y="1374775"/>
            <a:ext cx="8413750" cy="3654426"/>
          </a:xfrm>
          <a:prstGeom prst="rect">
            <a:avLst/>
          </a:prstGeom>
        </p:spPr>
        <p:txBody>
          <a:bodyPr/>
          <a:lstStyle>
            <a:lvl1pPr marL="339725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39825" indent="-225425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597025" indent="-22542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4225" indent="-22542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1913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8626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334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046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Tx/>
              <a:buNone/>
              <a:tabLst>
                <a:tab pos="4857750" algn="l"/>
              </a:tabLst>
            </a:pPr>
            <a:r>
              <a:rPr lang="en-US" kern="0" smtClean="0"/>
              <a:t>“Undoubtedly, PMD finds a significant number of bugs in the benchmark applications; however, they are hidden in the sheer volume of output produced.” 	—Hovemeyer and Pugh</a:t>
            </a:r>
          </a:p>
          <a:p>
            <a:pPr marL="0" indent="0">
              <a:buFontTx/>
              <a:buNone/>
              <a:tabLst>
                <a:tab pos="4857750" algn="l"/>
              </a:tabLst>
            </a:pPr>
            <a:endParaRPr lang="en-US" kern="0" smtClean="0"/>
          </a:p>
          <a:p>
            <a:pPr marL="0" indent="0">
              <a:buFontTx/>
              <a:buNone/>
              <a:tabLst>
                <a:tab pos="4857750" algn="l"/>
              </a:tabLst>
            </a:pPr>
            <a:r>
              <a:rPr lang="en-US" kern="0" smtClean="0"/>
              <a:t>“The main difficulty in using the tools is simply the quantity of output.”	</a:t>
            </a:r>
          </a:p>
          <a:p>
            <a:pPr marL="0" indent="0">
              <a:buFontTx/>
              <a:buNone/>
              <a:tabLst>
                <a:tab pos="4857750" algn="l"/>
              </a:tabLst>
            </a:pPr>
            <a:r>
              <a:rPr lang="en-US" kern="0" smtClean="0"/>
              <a:t>	—Rutar </a:t>
            </a:r>
            <a:r>
              <a:rPr lang="en-US" i="1" kern="0" smtClean="0"/>
              <a:t>et al</a:t>
            </a:r>
            <a:endParaRPr lang="en-US" kern="0" smtClean="0"/>
          </a:p>
          <a:p>
            <a:pPr marL="0" indent="0">
              <a:buFontTx/>
              <a:buNone/>
              <a:tabLst>
                <a:tab pos="4857750" algn="l"/>
              </a:tabLst>
            </a:pPr>
            <a:endParaRPr lang="en-US" kern="0" smtClean="0"/>
          </a:p>
          <a:p>
            <a:pPr marL="0" indent="0">
              <a:buFontTx/>
              <a:buNone/>
              <a:tabLst>
                <a:tab pos="4857750" algn="l"/>
              </a:tabLst>
            </a:pPr>
            <a:r>
              <a:rPr lang="en-US" kern="0" smtClean="0"/>
              <a:t>“[T]oo many findings or measurement results are presented at the same time and without a clear purpose. As a consequence, people will have difficulty identifying the important results and drawing conclusions.	—Streit and Pizka</a:t>
            </a:r>
            <a:endParaRPr lang="en-US" kern="0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228600" y="5562600"/>
            <a:ext cx="87630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76200" y="5410200"/>
            <a:ext cx="8763000" cy="9144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State of the art static analysis tools are </a:t>
            </a: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too verbose,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inaccurate, and </a:t>
            </a: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return low-value results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7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Graph-based Code Analysis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4114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Graph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Hierarchy (package, class, method)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Control flow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Data flow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Additional relationships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Crawler </a:t>
            </a:r>
            <a:r>
              <a:rPr lang="en-US" dirty="0"/>
              <a:t>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Initialize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Moderate AI for path following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Inclusionary criteria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Exclusionary criteria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Attributes</a:t>
            </a:r>
          </a:p>
          <a:p>
            <a:pPr marL="0" indent="0">
              <a:buNone/>
            </a:pPr>
            <a:r>
              <a:rPr lang="en-US" dirty="0" smtClean="0"/>
              <a:t>Accumulated </a:t>
            </a:r>
            <a:r>
              <a:rPr lang="en-US" dirty="0" smtClean="0"/>
              <a:t>attributes</a:t>
            </a:r>
          </a:p>
          <a:p>
            <a:pPr marL="0" indent="0">
              <a:buNone/>
            </a:pPr>
            <a:r>
              <a:rPr lang="en-US" dirty="0" smtClean="0"/>
              <a:t>Graph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lded Corner 4"/>
          <p:cNvSpPr/>
          <p:nvPr/>
        </p:nvSpPr>
        <p:spPr bwMode="auto">
          <a:xfrm>
            <a:off x="5486400" y="160020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6" name="Folded Corner 5"/>
          <p:cNvSpPr/>
          <p:nvPr/>
        </p:nvSpPr>
        <p:spPr bwMode="auto">
          <a:xfrm>
            <a:off x="6334828" y="1602246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7" name="Folded Corner 6"/>
          <p:cNvSpPr/>
          <p:nvPr/>
        </p:nvSpPr>
        <p:spPr bwMode="auto">
          <a:xfrm>
            <a:off x="7173028" y="160020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8" name="Folded Corner 7"/>
          <p:cNvSpPr/>
          <p:nvPr/>
        </p:nvSpPr>
        <p:spPr bwMode="auto">
          <a:xfrm>
            <a:off x="8011228" y="1600200"/>
            <a:ext cx="685800" cy="685800"/>
          </a:xfrm>
          <a:prstGeom prst="foldedCorner">
            <a:avLst>
              <a:gd name="adj" fmla="val 318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codecode</a:t>
            </a: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>
                <a:latin typeface="Arial" charset="0"/>
                <a:cs typeface="Arial" charset="0"/>
              </a:rPr>
              <a:t>codecode</a:t>
            </a:r>
            <a:endParaRPr lang="en-US" sz="900" dirty="0"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 err="1" smtClean="0">
                <a:latin typeface="Arial" charset="0"/>
                <a:cs typeface="Arial" charset="0"/>
              </a:rPr>
              <a:t>codecod</a:t>
            </a:r>
            <a:endParaRPr lang="en-US" sz="900" dirty="0"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900" dirty="0">
              <a:latin typeface="Arial" charset="0"/>
              <a:cs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334000" y="27432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758214" y="2936513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677728" y="2701254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7478595" y="29718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137996" y="2857500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7401628" y="2597448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024651" y="2697162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8367424" y="2662131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5422788" y="3226850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660851" y="3086100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300308" y="3352800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7226842" y="3340526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8348106" y="3119331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7991026" y="3407174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5" name="Straight Connector 24"/>
          <p:cNvCxnSpPr>
            <a:stCxn id="10" idx="3"/>
            <a:endCxn id="11" idx="1"/>
          </p:cNvCxnSpPr>
          <p:nvPr/>
        </p:nvCxnSpPr>
        <p:spPr bwMode="auto">
          <a:xfrm>
            <a:off x="5562600" y="2857500"/>
            <a:ext cx="195614" cy="19331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stCxn id="18" idx="6"/>
            <a:endCxn id="11" idx="2"/>
          </p:cNvCxnSpPr>
          <p:nvPr/>
        </p:nvCxnSpPr>
        <p:spPr bwMode="auto">
          <a:xfrm flipV="1">
            <a:off x="5674541" y="3165113"/>
            <a:ext cx="197973" cy="1876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18" idx="1"/>
            <a:endCxn id="10" idx="2"/>
          </p:cNvCxnSpPr>
          <p:nvPr/>
        </p:nvCxnSpPr>
        <p:spPr bwMode="auto">
          <a:xfrm flipH="1" flipV="1">
            <a:off x="5448300" y="2971800"/>
            <a:ext cx="11356" cy="29194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8" idx="6"/>
            <a:endCxn id="12" idx="1"/>
          </p:cNvCxnSpPr>
          <p:nvPr/>
        </p:nvCxnSpPr>
        <p:spPr bwMode="auto">
          <a:xfrm flipV="1">
            <a:off x="5674541" y="2815554"/>
            <a:ext cx="1003187" cy="5372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>
            <a:stCxn id="19" idx="0"/>
            <a:endCxn id="12" idx="2"/>
          </p:cNvCxnSpPr>
          <p:nvPr/>
        </p:nvCxnSpPr>
        <p:spPr bwMode="auto">
          <a:xfrm flipV="1">
            <a:off x="6786728" y="2929854"/>
            <a:ext cx="5300" cy="1562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stCxn id="20" idx="0"/>
            <a:endCxn id="12" idx="2"/>
          </p:cNvCxnSpPr>
          <p:nvPr/>
        </p:nvCxnSpPr>
        <p:spPr bwMode="auto">
          <a:xfrm flipV="1">
            <a:off x="6426185" y="2929854"/>
            <a:ext cx="365843" cy="4229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>
            <a:stCxn id="20" idx="6"/>
            <a:endCxn id="21" idx="2"/>
          </p:cNvCxnSpPr>
          <p:nvPr/>
        </p:nvCxnSpPr>
        <p:spPr bwMode="auto">
          <a:xfrm flipV="1">
            <a:off x="6552061" y="3466477"/>
            <a:ext cx="674781" cy="1227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14" idx="2"/>
            <a:endCxn id="21" idx="0"/>
          </p:cNvCxnSpPr>
          <p:nvPr/>
        </p:nvCxnSpPr>
        <p:spPr bwMode="auto">
          <a:xfrm>
            <a:off x="7252296" y="3086100"/>
            <a:ext cx="100423" cy="25442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Straight Connector 46"/>
          <p:cNvCxnSpPr>
            <a:stCxn id="21" idx="7"/>
            <a:endCxn id="13" idx="2"/>
          </p:cNvCxnSpPr>
          <p:nvPr/>
        </p:nvCxnSpPr>
        <p:spPr bwMode="auto">
          <a:xfrm flipV="1">
            <a:off x="7441727" y="3200400"/>
            <a:ext cx="151168" cy="1770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21" idx="6"/>
            <a:endCxn id="23" idx="2"/>
          </p:cNvCxnSpPr>
          <p:nvPr/>
        </p:nvCxnSpPr>
        <p:spPr bwMode="auto">
          <a:xfrm>
            <a:off x="7478595" y="3466477"/>
            <a:ext cx="512431" cy="6664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16" idx="2"/>
            <a:endCxn id="22" idx="1"/>
          </p:cNvCxnSpPr>
          <p:nvPr/>
        </p:nvCxnSpPr>
        <p:spPr bwMode="auto">
          <a:xfrm>
            <a:off x="8138951" y="2925762"/>
            <a:ext cx="246023" cy="23045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>
            <a:stCxn id="17" idx="2"/>
            <a:endCxn id="22" idx="0"/>
          </p:cNvCxnSpPr>
          <p:nvPr/>
        </p:nvCxnSpPr>
        <p:spPr bwMode="auto">
          <a:xfrm flipH="1">
            <a:off x="8473983" y="2890731"/>
            <a:ext cx="7741" cy="2286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>
            <a:stCxn id="15" idx="3"/>
            <a:endCxn id="22" idx="2"/>
          </p:cNvCxnSpPr>
          <p:nvPr/>
        </p:nvCxnSpPr>
        <p:spPr bwMode="auto">
          <a:xfrm>
            <a:off x="7630228" y="2711748"/>
            <a:ext cx="717878" cy="53353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4" name="Rectangle 63"/>
          <p:cNvSpPr/>
          <p:nvPr/>
        </p:nvSpPr>
        <p:spPr bwMode="auto">
          <a:xfrm>
            <a:off x="5693239" y="4169929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5" name="Rectangle 64"/>
          <p:cNvSpPr/>
          <p:nvPr/>
        </p:nvSpPr>
        <p:spPr bwMode="auto">
          <a:xfrm>
            <a:off x="6616628" y="4167885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6" name="Rectangle 65"/>
          <p:cNvSpPr/>
          <p:nvPr/>
        </p:nvSpPr>
        <p:spPr bwMode="auto">
          <a:xfrm>
            <a:off x="6132711" y="5069461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7" name="Rectangle 66"/>
          <p:cNvSpPr/>
          <p:nvPr/>
        </p:nvSpPr>
        <p:spPr bwMode="auto">
          <a:xfrm>
            <a:off x="7413523" y="5365096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8" name="Rectangle 67"/>
          <p:cNvSpPr/>
          <p:nvPr/>
        </p:nvSpPr>
        <p:spPr bwMode="auto">
          <a:xfrm>
            <a:off x="6636190" y="6094914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8119506" y="5135023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0" name="Rectangle 69"/>
          <p:cNvSpPr/>
          <p:nvPr/>
        </p:nvSpPr>
        <p:spPr bwMode="auto">
          <a:xfrm>
            <a:off x="7723699" y="4389057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1" name="Rectangle 70"/>
          <p:cNvSpPr/>
          <p:nvPr/>
        </p:nvSpPr>
        <p:spPr bwMode="auto">
          <a:xfrm>
            <a:off x="8417673" y="4351101"/>
            <a:ext cx="228600" cy="2286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6123159" y="4588785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3" name="Oval 72"/>
          <p:cNvSpPr/>
          <p:nvPr/>
        </p:nvSpPr>
        <p:spPr bwMode="auto">
          <a:xfrm>
            <a:off x="5658306" y="5350859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6618790" y="5365096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5" name="Oval 74"/>
          <p:cNvSpPr/>
          <p:nvPr/>
        </p:nvSpPr>
        <p:spPr bwMode="auto">
          <a:xfrm>
            <a:off x="7004244" y="5757108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6" name="Oval 75"/>
          <p:cNvSpPr/>
          <p:nvPr/>
        </p:nvSpPr>
        <p:spPr bwMode="auto">
          <a:xfrm>
            <a:off x="8085329" y="4745839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7" name="Oval 76"/>
          <p:cNvSpPr/>
          <p:nvPr/>
        </p:nvSpPr>
        <p:spPr bwMode="auto">
          <a:xfrm>
            <a:off x="7390370" y="6082118"/>
            <a:ext cx="251753" cy="251901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78" name="Straight Connector 77"/>
          <p:cNvCxnSpPr>
            <a:stCxn id="64" idx="3"/>
            <a:endCxn id="65" idx="1"/>
          </p:cNvCxnSpPr>
          <p:nvPr/>
        </p:nvCxnSpPr>
        <p:spPr bwMode="auto">
          <a:xfrm flipV="1">
            <a:off x="5921839" y="4282185"/>
            <a:ext cx="694789" cy="204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stCxn id="72" idx="6"/>
            <a:endCxn id="65" idx="2"/>
          </p:cNvCxnSpPr>
          <p:nvPr/>
        </p:nvCxnSpPr>
        <p:spPr bwMode="auto">
          <a:xfrm flipV="1">
            <a:off x="6374912" y="4396485"/>
            <a:ext cx="356016" cy="3182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Straight Connector 79"/>
          <p:cNvCxnSpPr>
            <a:stCxn id="72" idx="2"/>
            <a:endCxn id="64" idx="2"/>
          </p:cNvCxnSpPr>
          <p:nvPr/>
        </p:nvCxnSpPr>
        <p:spPr bwMode="auto">
          <a:xfrm flipH="1" flipV="1">
            <a:off x="5807539" y="4398529"/>
            <a:ext cx="315620" cy="31620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>
            <a:stCxn id="72" idx="4"/>
            <a:endCxn id="66" idx="0"/>
          </p:cNvCxnSpPr>
          <p:nvPr/>
        </p:nvCxnSpPr>
        <p:spPr bwMode="auto">
          <a:xfrm flipH="1">
            <a:off x="6247011" y="4840686"/>
            <a:ext cx="2025" cy="22877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>
            <a:stCxn id="73" idx="7"/>
            <a:endCxn id="66" idx="1"/>
          </p:cNvCxnSpPr>
          <p:nvPr/>
        </p:nvCxnSpPr>
        <p:spPr bwMode="auto">
          <a:xfrm flipV="1">
            <a:off x="5873191" y="5183761"/>
            <a:ext cx="259520" cy="2039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/>
          <p:cNvCxnSpPr>
            <a:stCxn id="74" idx="1"/>
            <a:endCxn id="66" idx="3"/>
          </p:cNvCxnSpPr>
          <p:nvPr/>
        </p:nvCxnSpPr>
        <p:spPr bwMode="auto">
          <a:xfrm flipH="1" flipV="1">
            <a:off x="6361311" y="5183761"/>
            <a:ext cx="294347" cy="2182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74" idx="5"/>
            <a:endCxn id="75" idx="1"/>
          </p:cNvCxnSpPr>
          <p:nvPr/>
        </p:nvCxnSpPr>
        <p:spPr bwMode="auto">
          <a:xfrm>
            <a:off x="6833675" y="5580107"/>
            <a:ext cx="207437" cy="2138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Straight Connector 84"/>
          <p:cNvCxnSpPr>
            <a:stCxn id="68" idx="3"/>
            <a:endCxn id="75" idx="3"/>
          </p:cNvCxnSpPr>
          <p:nvPr/>
        </p:nvCxnSpPr>
        <p:spPr bwMode="auto">
          <a:xfrm flipV="1">
            <a:off x="6864790" y="5972119"/>
            <a:ext cx="176322" cy="23709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Straight Connector 85"/>
          <p:cNvCxnSpPr>
            <a:stCxn id="75" idx="7"/>
            <a:endCxn id="67" idx="2"/>
          </p:cNvCxnSpPr>
          <p:nvPr/>
        </p:nvCxnSpPr>
        <p:spPr bwMode="auto">
          <a:xfrm flipV="1">
            <a:off x="7219129" y="5593696"/>
            <a:ext cx="308694" cy="20030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stCxn id="75" idx="5"/>
            <a:endCxn id="77" idx="1"/>
          </p:cNvCxnSpPr>
          <p:nvPr/>
        </p:nvCxnSpPr>
        <p:spPr bwMode="auto">
          <a:xfrm>
            <a:off x="7219129" y="5972119"/>
            <a:ext cx="208109" cy="1468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Straight Connector 87"/>
          <p:cNvCxnSpPr>
            <a:stCxn id="70" idx="2"/>
            <a:endCxn id="76" idx="1"/>
          </p:cNvCxnSpPr>
          <p:nvPr/>
        </p:nvCxnSpPr>
        <p:spPr bwMode="auto">
          <a:xfrm>
            <a:off x="7837999" y="4617657"/>
            <a:ext cx="284198" cy="16507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Straight Connector 88"/>
          <p:cNvCxnSpPr>
            <a:stCxn id="71" idx="2"/>
            <a:endCxn id="76" idx="7"/>
          </p:cNvCxnSpPr>
          <p:nvPr/>
        </p:nvCxnSpPr>
        <p:spPr bwMode="auto">
          <a:xfrm flipH="1">
            <a:off x="8300214" y="4579701"/>
            <a:ext cx="231759" cy="20302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stCxn id="69" idx="0"/>
            <a:endCxn id="76" idx="4"/>
          </p:cNvCxnSpPr>
          <p:nvPr/>
        </p:nvCxnSpPr>
        <p:spPr bwMode="auto">
          <a:xfrm flipH="1" flipV="1">
            <a:off x="8211206" y="4997740"/>
            <a:ext cx="22600" cy="13728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0" name="TextBox 159"/>
          <p:cNvSpPr txBox="1"/>
          <p:nvPr/>
        </p:nvSpPr>
        <p:spPr>
          <a:xfrm>
            <a:off x="6604891" y="4143685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70C0"/>
                </a:solidFill>
              </a:rPr>
              <a:t>A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085329" y="5124987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70C0"/>
                </a:solidFill>
              </a:rPr>
              <a:t>A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6604891" y="6081993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70C0"/>
                </a:solidFill>
              </a:rPr>
              <a:t>A</a:t>
            </a:r>
            <a:endParaRPr lang="en-US" sz="1200" b="1" dirty="0">
              <a:solidFill>
                <a:srgbClr val="0070C0"/>
              </a:solidFill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266538" y="5144168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B050"/>
                </a:solidFill>
              </a:rPr>
              <a:t>B</a:t>
            </a:r>
            <a:endParaRPr lang="en-US" sz="1200" b="1" dirty="0">
              <a:solidFill>
                <a:srgbClr val="00B050"/>
              </a:solidFill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6091524" y="5056752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B050"/>
                </a:solidFill>
              </a:rPr>
              <a:t>B</a:t>
            </a:r>
            <a:endParaRPr lang="en-US" sz="1200" b="1" dirty="0">
              <a:solidFill>
                <a:srgbClr val="00B050"/>
              </a:solidFill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8071462" y="4726680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01114" y="4596813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07972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  <p:bldP spid="161" grpId="0"/>
      <p:bldP spid="162" grpId="0"/>
      <p:bldP spid="163" grpId="0"/>
      <p:bldP spid="164" grpId="0"/>
      <p:bldP spid="165" grpId="0"/>
      <p:bldP spid="1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Software Research Using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0"/>
            <a:ext cx="8305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Silva – Graphical analysis of </a:t>
            </a:r>
            <a:r>
              <a:rPr lang="en-US" sz="2000" dirty="0" err="1" smtClean="0"/>
              <a:t>FindBugs</a:t>
            </a:r>
            <a:r>
              <a:rPr lang="en-US" sz="2000" dirty="0" smtClean="0"/>
              <a:t> evolution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Chatzigeorgiou</a:t>
            </a:r>
            <a:r>
              <a:rPr lang="en-US" sz="2000" dirty="0" smtClean="0"/>
              <a:t> – OO design evaluation and engineering with graphs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Ichii</a:t>
            </a:r>
            <a:r>
              <a:rPr lang="en-US" sz="2000" dirty="0" smtClean="0"/>
              <a:t> – Graph metrics applied to Java software systems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Fokaefs</a:t>
            </a:r>
            <a:r>
              <a:rPr lang="en-US" sz="2000" dirty="0" smtClean="0"/>
              <a:t> – Using clusters to identify refactoring candidates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Scanniello</a:t>
            </a:r>
            <a:r>
              <a:rPr lang="en-US" sz="2000" dirty="0" smtClean="0"/>
              <a:t> – Using clusters to evaluate software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66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1"/>
            <a:ext cx="3962400" cy="374386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Capable of scanning Java applications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State discovery</a:t>
            </a:r>
          </a:p>
          <a:p>
            <a:pPr marL="0" indent="0">
              <a:buNone/>
            </a:pPr>
            <a:r>
              <a:rPr lang="en-US" sz="1600" dirty="0" smtClean="0"/>
              <a:t>Object Interaction</a:t>
            </a: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300 KSLOC in minutes</a:t>
            </a: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u="sng" dirty="0" smtClean="0"/>
              <a:t>Past Customers</a:t>
            </a:r>
          </a:p>
          <a:p>
            <a:pPr marL="0" indent="0">
              <a:buNone/>
            </a:pPr>
            <a:r>
              <a:rPr lang="en-US" sz="1600" dirty="0" smtClean="0"/>
              <a:t>USMC MCSC</a:t>
            </a:r>
          </a:p>
          <a:p>
            <a:pPr marL="0" indent="0">
              <a:buNone/>
            </a:pPr>
            <a:r>
              <a:rPr lang="en-US" sz="1600" dirty="0" smtClean="0"/>
              <a:t>NUWC Keyport</a:t>
            </a:r>
          </a:p>
          <a:p>
            <a:pPr marL="0" indent="0">
              <a:buNone/>
            </a:pPr>
            <a:r>
              <a:rPr lang="en-US" sz="1600" dirty="0" smtClean="0"/>
              <a:t>US Army Redstone</a:t>
            </a:r>
          </a:p>
          <a:p>
            <a:pPr marL="0" indent="0">
              <a:buNone/>
            </a:pPr>
            <a:r>
              <a:rPr lang="en-US" sz="1600" dirty="0" smtClean="0"/>
              <a:t>NSWC China Lake</a:t>
            </a:r>
          </a:p>
          <a:p>
            <a:pPr marL="0" indent="0">
              <a:buNone/>
            </a:pPr>
            <a:r>
              <a:rPr lang="en-US" sz="1600" dirty="0" smtClean="0"/>
              <a:t>NSWC Dahlgren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876800" y="1481211"/>
            <a:ext cx="3962400" cy="3743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40" tIns="45670" rIns="91340" bIns="45670" numCol="1" anchor="t" anchorCtr="0" compatLnSpc="1">
            <a:prstTxWarp prst="textNoShape">
              <a:avLst/>
            </a:prstTxWarp>
          </a:bodyPr>
          <a:lstStyle>
            <a:lvl1pPr marL="173038" indent="-173038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5288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5143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6858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1913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8626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334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046" indent="-228357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600" u="sng" kern="0" dirty="0" smtClean="0"/>
              <a:t>Important Outcomes</a:t>
            </a:r>
          </a:p>
          <a:p>
            <a:pPr marL="0" indent="0">
              <a:buFontTx/>
              <a:buNone/>
            </a:pPr>
            <a:r>
              <a:rPr lang="en-US" sz="1600" kern="0" dirty="0" smtClean="0"/>
              <a:t>Logic bugs</a:t>
            </a:r>
          </a:p>
          <a:p>
            <a:pPr marL="0" indent="0">
              <a:buFontTx/>
              <a:buNone/>
            </a:pPr>
            <a:r>
              <a:rPr lang="en-US" sz="1600" kern="0" dirty="0" smtClean="0"/>
              <a:t>Design inefficiencies</a:t>
            </a:r>
          </a:p>
          <a:p>
            <a:pPr marL="0" indent="0">
              <a:buFontTx/>
              <a:buNone/>
            </a:pPr>
            <a:r>
              <a:rPr lang="en-US" sz="1600" kern="0" dirty="0" smtClean="0"/>
              <a:t>Design skew</a:t>
            </a:r>
          </a:p>
          <a:p>
            <a:pPr marL="0" indent="0">
              <a:buFontTx/>
              <a:buNone/>
            </a:pPr>
            <a:r>
              <a:rPr lang="en-US" sz="1600" kern="0" dirty="0" smtClean="0"/>
              <a:t>Objective quality evidence</a:t>
            </a:r>
          </a:p>
          <a:p>
            <a:pPr marL="0" indent="0">
              <a:buFontTx/>
              <a:buNone/>
            </a:pPr>
            <a:r>
              <a:rPr lang="en-US" sz="1600" kern="0" dirty="0" smtClean="0"/>
              <a:t>Design recommendations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429000"/>
            <a:ext cx="3732670" cy="23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6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3003480"/>
            <a:ext cx="3429000" cy="2254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Quality </a:t>
            </a:r>
            <a:r>
              <a:rPr lang="en-US" dirty="0" smtClean="0"/>
              <a:t>Metrics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1"/>
            <a:ext cx="3962400" cy="374386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Relationship with VA Tech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Free software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SQM Evaluation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High 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Some results 99% correct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Worst precision &gt;50%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Relative few reports (100s)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28600" y="5562600"/>
            <a:ext cx="87630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6200" y="5410200"/>
            <a:ext cx="8763000" cy="9144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Graph-based tools are demonstrating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improved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outcomes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00400" y="1482971"/>
            <a:ext cx="2819400" cy="279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7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/>
          <p:cNvSpPr/>
          <p:nvPr/>
        </p:nvSpPr>
        <p:spPr bwMode="auto">
          <a:xfrm>
            <a:off x="4874463" y="3411897"/>
            <a:ext cx="2974137" cy="1339232"/>
          </a:xfrm>
          <a:prstGeom prst="roundRect">
            <a:avLst>
              <a:gd name="adj" fmla="val 3018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5806946" y="1981200"/>
            <a:ext cx="2127379" cy="1347689"/>
          </a:xfrm>
          <a:prstGeom prst="rect">
            <a:avLst/>
          </a:prstGeom>
          <a:solidFill>
            <a:srgbClr val="FFDCB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625674" y="3411897"/>
            <a:ext cx="3308651" cy="245550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effectLst/>
                <a:latin typeface="Arial" charset="0"/>
                <a:cs typeface="Arial" charset="0"/>
              </a:rPr>
              <a:t>Dependencies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1"/>
            <a:ext cx="4114800" cy="3896260"/>
          </a:xfrm>
        </p:spPr>
        <p:txBody>
          <a:bodyPr/>
          <a:lstStyle/>
          <a:p>
            <a:pPr marL="0" indent="0">
              <a:buNone/>
            </a:pPr>
            <a:r>
              <a:rPr lang="en-US" sz="2000" u="sng" dirty="0" smtClean="0"/>
              <a:t>Auto-generated code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Uniform structure/style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Improved modularity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Single correction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Rapid alteration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1450 auto-generated classes</a:t>
            </a:r>
          </a:p>
          <a:p>
            <a:pPr marL="0" indent="0">
              <a:buNone/>
            </a:pPr>
            <a:r>
              <a:rPr lang="en-US" sz="2000" dirty="0" smtClean="0"/>
              <a:t>20 minutes to recompile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&lt;$50K investment</a:t>
            </a:r>
          </a:p>
          <a:p>
            <a:pPr marL="0" indent="0">
              <a:buNone/>
            </a:pPr>
            <a:r>
              <a:rPr lang="en-US" sz="2000" dirty="0" smtClean="0"/>
              <a:t>Repeated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02" y="2629214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625674" y="2297668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C++</a:t>
            </a:r>
            <a:endParaRPr lang="en-US" b="1" dirty="0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648" y="5163026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258" y="5169932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048926" y="4888468"/>
            <a:ext cx="942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Bridge</a:t>
            </a:r>
            <a:endParaRPr 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5663258" y="4888468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Adapter</a:t>
            </a:r>
            <a:endParaRPr lang="en-US" b="1" dirty="0"/>
          </a:p>
        </p:txBody>
      </p:sp>
      <p:sp>
        <p:nvSpPr>
          <p:cNvPr id="17" name="AutoShape 2" descr="Image result for python ic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495550"/>
            <a:ext cx="8096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/>
          <p:nvPr/>
        </p:nvSpPr>
        <p:spPr>
          <a:xfrm>
            <a:off x="5353695" y="1704201"/>
            <a:ext cx="295210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 smtClean="0"/>
              <a:t>pypi.python.org/pypi/</a:t>
            </a:r>
            <a:r>
              <a:rPr lang="en-US" sz="1200" dirty="0" err="1" smtClean="0"/>
              <a:t>CppHeaderParser</a:t>
            </a:r>
            <a:r>
              <a:rPr lang="en-US" sz="1200" dirty="0"/>
              <a:t>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55626" y="2123761"/>
            <a:ext cx="205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C++HeaderParser</a:t>
            </a:r>
            <a:endParaRPr lang="en-US" dirty="0"/>
          </a:p>
        </p:txBody>
      </p:sp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762" y="3956566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4648200" y="365760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Types</a:t>
            </a:r>
            <a:endParaRPr lang="en-US" b="1" dirty="0"/>
          </a:p>
        </p:txBody>
      </p:sp>
      <p:pic>
        <p:nvPicPr>
          <p:cNvPr id="2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036" y="3956566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6858000" y="3657600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Enums</a:t>
            </a:r>
            <a:endParaRPr lang="en-US" b="1" dirty="0"/>
          </a:p>
        </p:txBody>
      </p:sp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648" y="3956566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5562600" y="3657600"/>
            <a:ext cx="133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Primitives</a:t>
            </a:r>
            <a:endParaRPr lang="en-US" b="1" dirty="0"/>
          </a:p>
        </p:txBody>
      </p:sp>
      <p:sp>
        <p:nvSpPr>
          <p:cNvPr id="33" name="Right Arrow 32"/>
          <p:cNvSpPr/>
          <p:nvPr/>
        </p:nvSpPr>
        <p:spPr>
          <a:xfrm>
            <a:off x="4929477" y="2765124"/>
            <a:ext cx="877469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5839113" y="2556680"/>
            <a:ext cx="13189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Lists[]</a:t>
            </a:r>
          </a:p>
          <a:p>
            <a:r>
              <a:rPr lang="en-US" dirty="0"/>
              <a:t>Tables{}</a:t>
            </a:r>
          </a:p>
        </p:txBody>
      </p:sp>
      <p:cxnSp>
        <p:nvCxnSpPr>
          <p:cNvPr id="32" name="Straight Arrow Connector 31"/>
          <p:cNvCxnSpPr>
            <a:stCxn id="21" idx="2"/>
            <a:endCxn id="14" idx="0"/>
          </p:cNvCxnSpPr>
          <p:nvPr/>
        </p:nvCxnSpPr>
        <p:spPr bwMode="auto">
          <a:xfrm>
            <a:off x="5214937" y="4613791"/>
            <a:ext cx="1015059" cy="2746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>
            <a:stCxn id="25" idx="2"/>
            <a:endCxn id="14" idx="0"/>
          </p:cNvCxnSpPr>
          <p:nvPr/>
        </p:nvCxnSpPr>
        <p:spPr bwMode="auto">
          <a:xfrm flipH="1">
            <a:off x="6229996" y="4613791"/>
            <a:ext cx="2827" cy="2746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Straight Arrow Connector 40"/>
          <p:cNvCxnSpPr>
            <a:stCxn id="23" idx="2"/>
            <a:endCxn id="14" idx="0"/>
          </p:cNvCxnSpPr>
          <p:nvPr/>
        </p:nvCxnSpPr>
        <p:spPr bwMode="auto">
          <a:xfrm flipH="1">
            <a:off x="6229996" y="4613791"/>
            <a:ext cx="1185215" cy="27467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Straight Arrow Connector 44"/>
          <p:cNvCxnSpPr>
            <a:stCxn id="10" idx="3"/>
            <a:endCxn id="12" idx="1"/>
          </p:cNvCxnSpPr>
          <p:nvPr/>
        </p:nvCxnSpPr>
        <p:spPr bwMode="auto">
          <a:xfrm>
            <a:off x="6489998" y="5491639"/>
            <a:ext cx="1752260" cy="690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Straight Arrow Connector 47"/>
          <p:cNvCxnSpPr/>
          <p:nvPr/>
        </p:nvCxnSpPr>
        <p:spPr bwMode="auto">
          <a:xfrm>
            <a:off x="6279999" y="3124200"/>
            <a:ext cx="0" cy="37838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AutoShape 8" descr="Image result for RHEL ic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AutoShape 12" descr="Image result for DDS rti icon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7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Layer Effects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3941"/>
            <a:ext cx="4267200" cy="382006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Applications are sensitive to changes in an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Published interfaces are expensive to change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Auto-generated code enforces a single interface 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Limited effect on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Limited potential for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Single change for new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Easy refactoring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302" y="1450974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979" y="1779587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211801" y="4648200"/>
            <a:ext cx="1683353" cy="5131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Application</a:t>
            </a:r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899" y="2058432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Arrow 8"/>
          <p:cNvSpPr/>
          <p:nvPr/>
        </p:nvSpPr>
        <p:spPr>
          <a:xfrm rot="5400000">
            <a:off x="7766566" y="1919889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299" y="3523455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71"/>
          <p:cNvCxnSpPr>
            <a:endCxn id="12" idx="3"/>
          </p:cNvCxnSpPr>
          <p:nvPr/>
        </p:nvCxnSpPr>
        <p:spPr bwMode="auto">
          <a:xfrm rot="5400000">
            <a:off x="7223187" y="2545948"/>
            <a:ext cx="665178" cy="100459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Isosceles Triangle 11"/>
          <p:cNvSpPr/>
          <p:nvPr/>
        </p:nvSpPr>
        <p:spPr bwMode="auto">
          <a:xfrm rot="10751218">
            <a:off x="6890167" y="3380828"/>
            <a:ext cx="328613" cy="140302"/>
          </a:xfrm>
          <a:prstGeom prst="triangl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>
            <a:off x="7053478" y="4180680"/>
            <a:ext cx="996" cy="4675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4" name="Right Arrow 13"/>
          <p:cNvSpPr/>
          <p:nvPr/>
        </p:nvSpPr>
        <p:spPr>
          <a:xfrm rot="5400000">
            <a:off x="7586784" y="1662714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353" y="1450973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030" y="1779586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0950" y="2058431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ight Arrow 17"/>
          <p:cNvSpPr/>
          <p:nvPr/>
        </p:nvSpPr>
        <p:spPr>
          <a:xfrm rot="5400000">
            <a:off x="7096617" y="1919888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ight Arrow 18"/>
          <p:cNvSpPr/>
          <p:nvPr/>
        </p:nvSpPr>
        <p:spPr>
          <a:xfrm rot="5400000">
            <a:off x="6916835" y="1662713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840" y="1450972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517" y="1779585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437" y="2058430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2"/>
          <p:cNvSpPr/>
          <p:nvPr/>
        </p:nvSpPr>
        <p:spPr>
          <a:xfrm rot="5400000">
            <a:off x="6402104" y="1919887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ight Arrow 23"/>
          <p:cNvSpPr/>
          <p:nvPr/>
        </p:nvSpPr>
        <p:spPr>
          <a:xfrm rot="5400000">
            <a:off x="6222322" y="1662712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333" y="1450971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010" y="1779584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30" y="2058429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ight Arrow 27"/>
          <p:cNvSpPr/>
          <p:nvPr/>
        </p:nvSpPr>
        <p:spPr>
          <a:xfrm rot="5400000">
            <a:off x="5752597" y="1919886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ight Arrow 28"/>
          <p:cNvSpPr/>
          <p:nvPr/>
        </p:nvSpPr>
        <p:spPr>
          <a:xfrm rot="5400000">
            <a:off x="5572815" y="1662711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053" y="1453112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730" y="1781725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650" y="2060570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Right Arrow 32"/>
          <p:cNvSpPr/>
          <p:nvPr/>
        </p:nvSpPr>
        <p:spPr>
          <a:xfrm rot="5400000">
            <a:off x="8433317" y="1922027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ight Arrow 33"/>
          <p:cNvSpPr/>
          <p:nvPr/>
        </p:nvSpPr>
        <p:spPr>
          <a:xfrm rot="5400000">
            <a:off x="8253535" y="1664852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730" y="1450970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8"/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407" y="1779583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5327" y="2058428"/>
            <a:ext cx="51435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Right Arrow 37"/>
          <p:cNvSpPr/>
          <p:nvPr/>
        </p:nvSpPr>
        <p:spPr>
          <a:xfrm rot="5400000">
            <a:off x="5090994" y="1919885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ight Arrow 38"/>
          <p:cNvSpPr/>
          <p:nvPr/>
        </p:nvSpPr>
        <p:spPr>
          <a:xfrm rot="5400000">
            <a:off x="4911212" y="1662710"/>
            <a:ext cx="257175" cy="376619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71"/>
          <p:cNvCxnSpPr>
            <a:stCxn id="17" idx="2"/>
            <a:endCxn id="12" idx="3"/>
          </p:cNvCxnSpPr>
          <p:nvPr/>
        </p:nvCxnSpPr>
        <p:spPr bwMode="auto">
          <a:xfrm rot="5400000">
            <a:off x="6888213" y="2880922"/>
            <a:ext cx="665179" cy="3346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71"/>
          <p:cNvCxnSpPr>
            <a:stCxn id="27" idx="2"/>
            <a:endCxn id="12" idx="3"/>
          </p:cNvCxnSpPr>
          <p:nvPr/>
        </p:nvCxnSpPr>
        <p:spPr bwMode="auto">
          <a:xfrm rot="16200000" flipH="1">
            <a:off x="6216201" y="2543557"/>
            <a:ext cx="665181" cy="100937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71"/>
          <p:cNvCxnSpPr>
            <a:stCxn id="22" idx="2"/>
            <a:endCxn id="12" idx="3"/>
          </p:cNvCxnSpPr>
          <p:nvPr/>
        </p:nvCxnSpPr>
        <p:spPr bwMode="auto">
          <a:xfrm rot="16200000" flipH="1">
            <a:off x="6540955" y="2868312"/>
            <a:ext cx="665180" cy="35986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Straight Connector 71"/>
          <p:cNvCxnSpPr>
            <a:stCxn id="32" idx="2"/>
            <a:endCxn id="12" idx="3"/>
          </p:cNvCxnSpPr>
          <p:nvPr/>
        </p:nvCxnSpPr>
        <p:spPr bwMode="auto">
          <a:xfrm rot="5400000">
            <a:off x="7557632" y="2213642"/>
            <a:ext cx="663040" cy="16713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71"/>
          <p:cNvCxnSpPr>
            <a:stCxn id="37" idx="2"/>
            <a:endCxn id="12" idx="3"/>
          </p:cNvCxnSpPr>
          <p:nvPr/>
        </p:nvCxnSpPr>
        <p:spPr bwMode="auto">
          <a:xfrm rot="16200000" flipH="1">
            <a:off x="5885399" y="2212756"/>
            <a:ext cx="665182" cy="167097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Rectangle 44"/>
          <p:cNvSpPr/>
          <p:nvPr/>
        </p:nvSpPr>
        <p:spPr bwMode="auto">
          <a:xfrm>
            <a:off x="228600" y="5562600"/>
            <a:ext cx="8763000" cy="914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6" name="Rectangle 45"/>
          <p:cNvSpPr/>
          <p:nvPr/>
        </p:nvSpPr>
        <p:spPr bwMode="auto">
          <a:xfrm>
            <a:off x="76200" y="5410200"/>
            <a:ext cx="8763000" cy="914400"/>
          </a:xfrm>
          <a:prstGeom prst="rect">
            <a:avLst/>
          </a:prstGeom>
          <a:solidFill>
            <a:schemeClr val="accent1">
              <a:lumMod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  <a:cs typeface="Arial" charset="0"/>
              </a:rPr>
              <a:t>Auto-generated code requires investment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 smtClean="0">
                <a:solidFill>
                  <a:schemeClr val="bg1"/>
                </a:solidFill>
                <a:latin typeface="Arial" charset="0"/>
                <a:cs typeface="Arial" charset="0"/>
              </a:rPr>
              <a:t>but leads to numerous benefits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29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Management and Software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507453"/>
            <a:ext cx="8229600" cy="260734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Project Management belies the complexities of software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Abhorrence of loops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Indefinite delays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Refactoring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Risk to Program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Schedule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4121287"/>
            <a:ext cx="86106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98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Studying Software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/>
              <a:t>Features discovered</a:t>
            </a:r>
          </a:p>
          <a:p>
            <a:pPr marL="0" indent="0">
              <a:buNone/>
            </a:pPr>
            <a:r>
              <a:rPr lang="en-US" dirty="0" smtClean="0"/>
              <a:t>Periodic Refactor</a:t>
            </a:r>
          </a:p>
          <a:p>
            <a:pPr marL="0" indent="0">
              <a:buNone/>
            </a:pPr>
            <a:r>
              <a:rPr lang="en-US" dirty="0" smtClean="0"/>
              <a:t>Learn / Develop / Refine</a:t>
            </a:r>
          </a:p>
          <a:p>
            <a:pPr marL="0" indent="0">
              <a:buNone/>
            </a:pPr>
            <a:r>
              <a:rPr lang="en-US" dirty="0" smtClean="0"/>
              <a:t>Introduction of Rigor</a:t>
            </a:r>
          </a:p>
          <a:p>
            <a:pPr marL="0" indent="0">
              <a:buNone/>
            </a:pPr>
            <a:r>
              <a:rPr lang="en-US" dirty="0" smtClean="0"/>
              <a:t>Relationship to CMMI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 smtClean="0"/>
              <a:t>Seeking additional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026037"/>
            <a:ext cx="66294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6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smtClean="0"/>
              <a:t>Software development needs to be monitored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Code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Risk Management Framework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Current assessment methods are inadequate</a:t>
            </a:r>
            <a:endParaRPr lang="en-US" sz="1600" dirty="0"/>
          </a:p>
          <a:p>
            <a:r>
              <a:rPr lang="en-US" sz="1600" dirty="0" smtClean="0"/>
              <a:t>Numerical metrics give spurious and inconsistent results</a:t>
            </a:r>
          </a:p>
          <a:p>
            <a:r>
              <a:rPr lang="en-US" sz="1600" dirty="0" smtClean="0"/>
              <a:t>Static analysis tools are overly verbose, inaccurate, and lack value</a:t>
            </a:r>
          </a:p>
          <a:p>
            <a:r>
              <a:rPr lang="en-US" sz="1600" dirty="0" smtClean="0"/>
              <a:t>Simply “doing metrics” or “using a tool” is </a:t>
            </a:r>
            <a:r>
              <a:rPr lang="en-US" sz="1600" b="1" u="sng" dirty="0" smtClean="0"/>
              <a:t>NOT</a:t>
            </a:r>
            <a:r>
              <a:rPr lang="en-US" sz="1600" dirty="0" smtClean="0"/>
              <a:t> the answer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New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Graph-based analysis shows great promise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Next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Auto-generated code has potential for big return on investment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Study of software projects may reduce cost/schedule risks for big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14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Opportunities for Collaboration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Software Quality Metrics are currently under evaluation</a:t>
            </a:r>
          </a:p>
          <a:p>
            <a:pPr marL="0" indent="0">
              <a:buNone/>
            </a:pPr>
            <a:r>
              <a:rPr lang="en-US" dirty="0" smtClean="0"/>
              <a:t>* In conjunction with Virginia Tech</a:t>
            </a:r>
          </a:p>
          <a:p>
            <a:r>
              <a:rPr lang="en-US" dirty="0" smtClean="0"/>
              <a:t>Limited to Java-based programs</a:t>
            </a:r>
          </a:p>
          <a:p>
            <a:r>
              <a:rPr lang="en-US" dirty="0" smtClean="0"/>
              <a:t>Free evaluation of software programs</a:t>
            </a:r>
          </a:p>
          <a:p>
            <a:r>
              <a:rPr lang="en-US" dirty="0" smtClean="0"/>
              <a:t>Counter evaluation by developers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Software Project Management data 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Software-based Gantt charts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Real data, not predicted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Information about time lost, obstacles to development, etc.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33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Brian Dillon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Contact email: brian.s.dillon@navy.mil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B.S. Computer Science, 2007 VCU</a:t>
            </a:r>
          </a:p>
          <a:p>
            <a:pPr marL="0" indent="0">
              <a:buNone/>
            </a:pPr>
            <a:r>
              <a:rPr lang="en-US" dirty="0" smtClean="0"/>
              <a:t>M.S. Modeling and Simulation, 2010, ODU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“Determining the Utility of Technology for Education”</a:t>
            </a:r>
          </a:p>
          <a:p>
            <a:pPr marL="0" indent="0">
              <a:buNone/>
            </a:pPr>
            <a:r>
              <a:rPr lang="en-US" dirty="0" smtClean="0"/>
              <a:t>PhD Computer Science, </a:t>
            </a:r>
            <a:r>
              <a:rPr lang="en-US" b="1" dirty="0" smtClean="0"/>
              <a:t>PENDING</a:t>
            </a:r>
            <a:r>
              <a:rPr lang="en-US" dirty="0" smtClean="0"/>
              <a:t> Virginia Tech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Naval Surface Warfare Center Dahlgren 2007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Host of Software Developers’ Lecture Series, 2011-2017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NATO Cyber Security Conference, Arlington, 2017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ILIR Project of the Year 2017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Award for Excellence in Software Engineering and Integration,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049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7DED16-457C-482E-B05D-B58B5476916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85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4050" y="1524000"/>
            <a:ext cx="52959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514600" y="15240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Cancer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3169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76400" y="1295400"/>
            <a:ext cx="5972860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446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685632" y="1246277"/>
            <a:ext cx="5982432" cy="526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941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1716087"/>
            <a:ext cx="4284306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338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solidFill>
          <a:schemeClr val="accent1"/>
        </a:solidFill>
        <a:ln w="28575" cap="flat" cmpd="sng" algn="ctr">
          <a:solidFill>
            <a:schemeClr val="bg2">
              <a:lumMod val="75000"/>
            </a:schemeClr>
          </a:solidFill>
          <a:prstDash val="dash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3272</TotalTime>
  <Words>996</Words>
  <Application>Microsoft Office PowerPoint</Application>
  <PresentationFormat>On-screen Show (4:3)</PresentationFormat>
  <Paragraphs>376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MS PGothic</vt:lpstr>
      <vt:lpstr>Arial</vt:lpstr>
      <vt:lpstr>Calibri</vt:lpstr>
      <vt:lpstr>4_Custom Design</vt:lpstr>
      <vt:lpstr>Managing Software Quality </vt:lpstr>
      <vt:lpstr>Agenda</vt:lpstr>
      <vt:lpstr>Risk Management Framework</vt:lpstr>
      <vt:lpstr>Software Degeneration Models</vt:lpstr>
      <vt:lpstr>Business Model</vt:lpstr>
      <vt:lpstr>Metrics – Unintended Consequences</vt:lpstr>
      <vt:lpstr>Metrics – Value comparison</vt:lpstr>
      <vt:lpstr>Metrics – Name-value conflicts</vt:lpstr>
      <vt:lpstr>Beautiful Numbers</vt:lpstr>
      <vt:lpstr>Static Analysis Techniques</vt:lpstr>
      <vt:lpstr>Precision and Efficiency</vt:lpstr>
      <vt:lpstr>Too Many Results</vt:lpstr>
      <vt:lpstr>Graph-based Code Analysis Techniques</vt:lpstr>
      <vt:lpstr>Additional Software Research Using Graphs</vt:lpstr>
      <vt:lpstr>Software Quality Metrics</vt:lpstr>
      <vt:lpstr>Software Quality Metrics (2)</vt:lpstr>
      <vt:lpstr>Automatic Code Generation</vt:lpstr>
      <vt:lpstr>Application Layer Effects</vt:lpstr>
      <vt:lpstr>Project Management and Software</vt:lpstr>
      <vt:lpstr>Studying Software Projects</vt:lpstr>
      <vt:lpstr>Summary</vt:lpstr>
      <vt:lpstr>Opportunities for Collaboration</vt:lpstr>
      <vt:lpstr>Brian Dillon</vt:lpstr>
      <vt:lpstr>Questions</vt:lpstr>
      <vt:lpstr>PowerPoint Presentation</vt:lpstr>
      <vt:lpstr>PowerPoint Presentation</vt:lpstr>
      <vt:lpstr>PowerPoint Presentation</vt:lpstr>
      <vt:lpstr>PowerPoint Presentation</vt:lpstr>
    </vt:vector>
  </TitlesOfParts>
  <Company>NMCI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Dillon, Brian S CIV NSWCDD, V53</dc:creator>
  <cp:lastModifiedBy>Dillon, Brian S CIV NSWCDD, V53</cp:lastModifiedBy>
  <cp:revision>145</cp:revision>
  <dcterms:created xsi:type="dcterms:W3CDTF">2017-06-02T16:13:07Z</dcterms:created>
  <dcterms:modified xsi:type="dcterms:W3CDTF">2018-07-19T21:16:24Z</dcterms:modified>
</cp:coreProperties>
</file>